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D0F6F6"/>
    <a:srgbClr val="AFE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84"/>
    <p:restoredTop sz="94610"/>
  </p:normalViewPr>
  <p:slideViewPr>
    <p:cSldViewPr>
      <p:cViewPr>
        <p:scale>
          <a:sx n="22" d="100"/>
          <a:sy n="22" d="100"/>
        </p:scale>
        <p:origin x="2928" y="144"/>
      </p:cViewPr>
      <p:guideLst>
        <p:guide orient="horz" pos="13481"/>
        <p:guide pos="9535"/>
      </p:guideLst>
    </p:cSldViewPr>
  </p:slideViewPr>
  <p:outlineViewPr>
    <p:cViewPr>
      <p:scale>
        <a:sx n="100" d="100"/>
        <a:sy n="100"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529DD-5C42-9C49-A7A3-0B2E51ADCAFC}" type="datetimeFigureOut">
              <a:rPr lang="en-US" smtClean="0"/>
              <a:t>11/10/25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9ADBE-3D52-AC48-BB99-D1A2E4321B4A}" type="slidenum">
              <a:rPr lang="en-US" smtClean="0"/>
              <a:t>‹#›</a:t>
            </a:fld>
            <a:endParaRPr lang="en-US"/>
          </a:p>
        </p:txBody>
      </p:sp>
    </p:spTree>
    <p:extLst>
      <p:ext uri="{BB962C8B-B14F-4D97-AF65-F5344CB8AC3E}">
        <p14:creationId xmlns:p14="http://schemas.microsoft.com/office/powerpoint/2010/main" val="41124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9ADBE-3D52-AC48-BB99-D1A2E4321B4A}" type="slidenum">
              <a:rPr lang="en-US" smtClean="0"/>
              <a:t>1</a:t>
            </a:fld>
            <a:endParaRPr lang="en-US"/>
          </a:p>
        </p:txBody>
      </p:sp>
    </p:spTree>
    <p:extLst>
      <p:ext uri="{BB962C8B-B14F-4D97-AF65-F5344CB8AC3E}">
        <p14:creationId xmlns:p14="http://schemas.microsoft.com/office/powerpoint/2010/main" val="399881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435" y="13296900"/>
            <a:ext cx="25733932" cy="9175750"/>
          </a:xfrm>
        </p:spPr>
        <p:txBody>
          <a:bodyPr/>
          <a:lstStyle/>
          <a:p>
            <a:r>
              <a:rPr lang="de-DE"/>
              <a:t>Mastertitelformat bearbeiten</a:t>
            </a:r>
          </a:p>
        </p:txBody>
      </p:sp>
      <p:sp>
        <p:nvSpPr>
          <p:cNvPr id="3" name="Untertitel 2"/>
          <p:cNvSpPr>
            <a:spLocks noGrp="1"/>
          </p:cNvSpPr>
          <p:nvPr>
            <p:ph type="subTitle" idx="1"/>
          </p:nvPr>
        </p:nvSpPr>
        <p:spPr>
          <a:xfrm>
            <a:off x="4541283" y="24255413"/>
            <a:ext cx="21192649"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Rectangle 4">
            <a:extLst>
              <a:ext uri="{FF2B5EF4-FFF2-40B4-BE49-F238E27FC236}">
                <a16:creationId xmlns:a16="http://schemas.microsoft.com/office/drawing/2014/main" id="{291A82DB-B1AE-4946-E2EF-65EC0558B8B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83E4E811-02BB-F85D-F574-838CC308DE1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16E6424E-7D0A-726B-1531-3D158FA6C39D}"/>
              </a:ext>
            </a:extLst>
          </p:cNvPr>
          <p:cNvSpPr>
            <a:spLocks noGrp="1" noChangeArrowheads="1"/>
          </p:cNvSpPr>
          <p:nvPr>
            <p:ph type="sldNum" sz="quarter" idx="12"/>
          </p:nvPr>
        </p:nvSpPr>
        <p:spPr>
          <a:ln/>
        </p:spPr>
        <p:txBody>
          <a:bodyPr/>
          <a:lstStyle>
            <a:lvl1pPr>
              <a:defRPr/>
            </a:lvl1pPr>
          </a:lstStyle>
          <a:p>
            <a:fld id="{6169A66E-5714-B441-8665-D02AE9D94B8B}" type="slidenum">
              <a:rPr lang="de-DE" altLang="en-US"/>
              <a:pPr/>
              <a:t>‹#›</a:t>
            </a:fld>
            <a:endParaRPr lang="de-DE" altLang="en-US"/>
          </a:p>
        </p:txBody>
      </p:sp>
    </p:spTree>
    <p:extLst>
      <p:ext uri="{BB962C8B-B14F-4D97-AF65-F5344CB8AC3E}">
        <p14:creationId xmlns:p14="http://schemas.microsoft.com/office/powerpoint/2010/main" val="382196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D29C20EA-2AF2-817F-AEA4-8FD9769686EE}"/>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FEC53D1A-B009-981C-2EA7-35393C6E3334}"/>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DF82C5D-4092-6DB7-F25B-55F60E7ED39D}"/>
              </a:ext>
            </a:extLst>
          </p:cNvPr>
          <p:cNvSpPr>
            <a:spLocks noGrp="1" noChangeArrowheads="1"/>
          </p:cNvSpPr>
          <p:nvPr>
            <p:ph type="sldNum" sz="quarter" idx="12"/>
          </p:nvPr>
        </p:nvSpPr>
        <p:spPr>
          <a:ln/>
        </p:spPr>
        <p:txBody>
          <a:bodyPr/>
          <a:lstStyle>
            <a:lvl1pPr>
              <a:defRPr/>
            </a:lvl1pPr>
          </a:lstStyle>
          <a:p>
            <a:fld id="{A357A146-A5B8-FD4D-AF7C-09C001205BB9}" type="slidenum">
              <a:rPr lang="de-DE" altLang="en-US"/>
              <a:pPr/>
              <a:t>‹#›</a:t>
            </a:fld>
            <a:endParaRPr lang="de-DE" altLang="en-US"/>
          </a:p>
        </p:txBody>
      </p:sp>
    </p:spTree>
    <p:extLst>
      <p:ext uri="{BB962C8B-B14F-4D97-AF65-F5344CB8AC3E}">
        <p14:creationId xmlns:p14="http://schemas.microsoft.com/office/powerpoint/2010/main" val="225662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155" y="27505026"/>
            <a:ext cx="25733932" cy="8501063"/>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155" y="18141951"/>
            <a:ext cx="25733932" cy="93630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Rectangle 4">
            <a:extLst>
              <a:ext uri="{FF2B5EF4-FFF2-40B4-BE49-F238E27FC236}">
                <a16:creationId xmlns:a16="http://schemas.microsoft.com/office/drawing/2014/main" id="{9FF2F1BA-2282-33F1-E563-4C9B5173816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331F209-4F02-BEE5-1C03-EE6B17D6B2F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90D205C-BC83-3902-1149-62B2D7715DB7}"/>
              </a:ext>
            </a:extLst>
          </p:cNvPr>
          <p:cNvSpPr>
            <a:spLocks noGrp="1" noChangeArrowheads="1"/>
          </p:cNvSpPr>
          <p:nvPr>
            <p:ph type="sldNum" sz="quarter" idx="12"/>
          </p:nvPr>
        </p:nvSpPr>
        <p:spPr>
          <a:ln/>
        </p:spPr>
        <p:txBody>
          <a:bodyPr/>
          <a:lstStyle>
            <a:lvl1pPr>
              <a:defRPr/>
            </a:lvl1pPr>
          </a:lstStyle>
          <a:p>
            <a:fld id="{F431B53C-0B9B-6E4B-85DF-336867A5FBDA}" type="slidenum">
              <a:rPr lang="de-DE" altLang="en-US"/>
              <a:pPr/>
              <a:t>‹#›</a:t>
            </a:fld>
            <a:endParaRPr lang="de-DE" altLang="en-US"/>
          </a:p>
        </p:txBody>
      </p:sp>
    </p:spTree>
    <p:extLst>
      <p:ext uri="{BB962C8B-B14F-4D97-AF65-F5344CB8AC3E}">
        <p14:creationId xmlns:p14="http://schemas.microsoft.com/office/powerpoint/2010/main" val="39117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2271435" y="12365039"/>
            <a:ext cx="12789927"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213851" y="12365039"/>
            <a:ext cx="12791516"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a:extLst>
              <a:ext uri="{FF2B5EF4-FFF2-40B4-BE49-F238E27FC236}">
                <a16:creationId xmlns:a16="http://schemas.microsoft.com/office/drawing/2014/main" id="{3E29197A-FD46-3EFF-B4D6-2D7DF5F8BF28}"/>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C55FF186-696D-7F62-F3D2-93B80BD2C74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831D7817-309D-5F72-3EE6-93FB52C83DF5}"/>
              </a:ext>
            </a:extLst>
          </p:cNvPr>
          <p:cNvSpPr>
            <a:spLocks noGrp="1" noChangeArrowheads="1"/>
          </p:cNvSpPr>
          <p:nvPr>
            <p:ph type="sldNum" sz="quarter" idx="12"/>
          </p:nvPr>
        </p:nvSpPr>
        <p:spPr>
          <a:ln/>
        </p:spPr>
        <p:txBody>
          <a:bodyPr/>
          <a:lstStyle>
            <a:lvl1pPr>
              <a:defRPr/>
            </a:lvl1pPr>
          </a:lstStyle>
          <a:p>
            <a:fld id="{D604C990-0E86-0A49-9E14-FEE1A268B60E}" type="slidenum">
              <a:rPr lang="de-DE" altLang="en-US"/>
              <a:pPr/>
              <a:t>‹#›</a:t>
            </a:fld>
            <a:endParaRPr lang="de-DE" altLang="en-US"/>
          </a:p>
        </p:txBody>
      </p:sp>
    </p:spTree>
    <p:extLst>
      <p:ext uri="{BB962C8B-B14F-4D97-AF65-F5344CB8AC3E}">
        <p14:creationId xmlns:p14="http://schemas.microsoft.com/office/powerpoint/2010/main" val="366869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3762" y="1714501"/>
            <a:ext cx="27247692"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3762" y="9580563"/>
            <a:ext cx="1337605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3762" y="13574713"/>
            <a:ext cx="13376052"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79046" y="9580563"/>
            <a:ext cx="13382407"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79046" y="13574713"/>
            <a:ext cx="13382407"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a:extLst>
              <a:ext uri="{FF2B5EF4-FFF2-40B4-BE49-F238E27FC236}">
                <a16:creationId xmlns:a16="http://schemas.microsoft.com/office/drawing/2014/main" id="{AE1FCF45-6BA7-C8BD-F425-4769EB48D8E7}"/>
              </a:ext>
            </a:extLst>
          </p:cNvPr>
          <p:cNvSpPr>
            <a:spLocks noGrp="1" noChangeArrowheads="1"/>
          </p:cNvSpPr>
          <p:nvPr>
            <p:ph type="dt" sz="half" idx="10"/>
          </p:nvPr>
        </p:nvSpPr>
        <p:spPr>
          <a:ln/>
        </p:spPr>
        <p:txBody>
          <a:bodyPr/>
          <a:lstStyle>
            <a:lvl1pPr>
              <a:defRPr/>
            </a:lvl1pPr>
          </a:lstStyle>
          <a:p>
            <a:pPr>
              <a:defRPr/>
            </a:pPr>
            <a:endParaRPr lang="de-DE"/>
          </a:p>
        </p:txBody>
      </p:sp>
      <p:sp>
        <p:nvSpPr>
          <p:cNvPr id="8" name="Rectangle 5">
            <a:extLst>
              <a:ext uri="{FF2B5EF4-FFF2-40B4-BE49-F238E27FC236}">
                <a16:creationId xmlns:a16="http://schemas.microsoft.com/office/drawing/2014/main" id="{FE6303B8-9887-A1E2-45BC-ABC0738CD31F}"/>
              </a:ext>
            </a:extLst>
          </p:cNvPr>
          <p:cNvSpPr>
            <a:spLocks noGrp="1" noChangeArrowheads="1"/>
          </p:cNvSpPr>
          <p:nvPr>
            <p:ph type="ftr" sz="quarter" idx="11"/>
          </p:nvPr>
        </p:nvSpPr>
        <p:spPr>
          <a:ln/>
        </p:spPr>
        <p:txBody>
          <a:bodyPr/>
          <a:lstStyle>
            <a:lvl1pPr>
              <a:defRPr/>
            </a:lvl1pPr>
          </a:lstStyle>
          <a:p>
            <a:pPr>
              <a:defRPr/>
            </a:pPr>
            <a:endParaRPr lang="de-DE"/>
          </a:p>
        </p:txBody>
      </p:sp>
      <p:sp>
        <p:nvSpPr>
          <p:cNvPr id="9" name="Rectangle 6">
            <a:extLst>
              <a:ext uri="{FF2B5EF4-FFF2-40B4-BE49-F238E27FC236}">
                <a16:creationId xmlns:a16="http://schemas.microsoft.com/office/drawing/2014/main" id="{23DA68EE-075C-CE22-9C91-EB776E48098F}"/>
              </a:ext>
            </a:extLst>
          </p:cNvPr>
          <p:cNvSpPr>
            <a:spLocks noGrp="1" noChangeArrowheads="1"/>
          </p:cNvSpPr>
          <p:nvPr>
            <p:ph type="sldNum" sz="quarter" idx="12"/>
          </p:nvPr>
        </p:nvSpPr>
        <p:spPr>
          <a:ln/>
        </p:spPr>
        <p:txBody>
          <a:bodyPr/>
          <a:lstStyle>
            <a:lvl1pPr>
              <a:defRPr/>
            </a:lvl1pPr>
          </a:lstStyle>
          <a:p>
            <a:fld id="{8A8ADC20-42AE-E846-B2DF-BD1449E5DE68}" type="slidenum">
              <a:rPr lang="de-DE" altLang="en-US"/>
              <a:pPr/>
              <a:t>‹#›</a:t>
            </a:fld>
            <a:endParaRPr lang="de-DE" altLang="en-US"/>
          </a:p>
        </p:txBody>
      </p:sp>
    </p:spTree>
    <p:extLst>
      <p:ext uri="{BB962C8B-B14F-4D97-AF65-F5344CB8AC3E}">
        <p14:creationId xmlns:p14="http://schemas.microsoft.com/office/powerpoint/2010/main" val="395537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Rectangle 4">
            <a:extLst>
              <a:ext uri="{FF2B5EF4-FFF2-40B4-BE49-F238E27FC236}">
                <a16:creationId xmlns:a16="http://schemas.microsoft.com/office/drawing/2014/main" id="{479B28DA-9D65-B66C-B67A-5CF632FA91AE}"/>
              </a:ext>
            </a:extLst>
          </p:cNvPr>
          <p:cNvSpPr>
            <a:spLocks noGrp="1" noChangeArrowheads="1"/>
          </p:cNvSpPr>
          <p:nvPr>
            <p:ph type="dt" sz="half" idx="10"/>
          </p:nvPr>
        </p:nvSpPr>
        <p:spPr>
          <a:ln/>
        </p:spPr>
        <p:txBody>
          <a:bodyPr/>
          <a:lstStyle>
            <a:lvl1pPr>
              <a:defRPr/>
            </a:lvl1pPr>
          </a:lstStyle>
          <a:p>
            <a:pPr>
              <a:defRPr/>
            </a:pPr>
            <a:endParaRPr lang="de-DE"/>
          </a:p>
        </p:txBody>
      </p:sp>
      <p:sp>
        <p:nvSpPr>
          <p:cNvPr id="4" name="Rectangle 5">
            <a:extLst>
              <a:ext uri="{FF2B5EF4-FFF2-40B4-BE49-F238E27FC236}">
                <a16:creationId xmlns:a16="http://schemas.microsoft.com/office/drawing/2014/main" id="{132708C9-569E-95D9-4E95-6C582505BF43}"/>
              </a:ext>
            </a:extLst>
          </p:cNvPr>
          <p:cNvSpPr>
            <a:spLocks noGrp="1" noChangeArrowheads="1"/>
          </p:cNvSpPr>
          <p:nvPr>
            <p:ph type="ftr" sz="quarter" idx="11"/>
          </p:nvPr>
        </p:nvSpPr>
        <p:spPr>
          <a:ln/>
        </p:spPr>
        <p:txBody>
          <a:bodyPr/>
          <a:lstStyle>
            <a:lvl1pPr>
              <a:defRPr/>
            </a:lvl1pPr>
          </a:lstStyle>
          <a:p>
            <a:pPr>
              <a:defRPr/>
            </a:pPr>
            <a:endParaRPr lang="de-DE"/>
          </a:p>
        </p:txBody>
      </p:sp>
      <p:sp>
        <p:nvSpPr>
          <p:cNvPr id="5" name="Rectangle 6">
            <a:extLst>
              <a:ext uri="{FF2B5EF4-FFF2-40B4-BE49-F238E27FC236}">
                <a16:creationId xmlns:a16="http://schemas.microsoft.com/office/drawing/2014/main" id="{32128155-8445-639F-A014-F0E92CA2902D}"/>
              </a:ext>
            </a:extLst>
          </p:cNvPr>
          <p:cNvSpPr>
            <a:spLocks noGrp="1" noChangeArrowheads="1"/>
          </p:cNvSpPr>
          <p:nvPr>
            <p:ph type="sldNum" sz="quarter" idx="12"/>
          </p:nvPr>
        </p:nvSpPr>
        <p:spPr>
          <a:ln/>
        </p:spPr>
        <p:txBody>
          <a:bodyPr/>
          <a:lstStyle>
            <a:lvl1pPr>
              <a:defRPr/>
            </a:lvl1pPr>
          </a:lstStyle>
          <a:p>
            <a:fld id="{01FC597C-98BD-DE4C-8FE1-2F514F5209B6}" type="slidenum">
              <a:rPr lang="de-DE" altLang="en-US"/>
              <a:pPr/>
              <a:t>‹#›</a:t>
            </a:fld>
            <a:endParaRPr lang="de-DE" altLang="en-US"/>
          </a:p>
        </p:txBody>
      </p:sp>
    </p:spTree>
    <p:extLst>
      <p:ext uri="{BB962C8B-B14F-4D97-AF65-F5344CB8AC3E}">
        <p14:creationId xmlns:p14="http://schemas.microsoft.com/office/powerpoint/2010/main" val="127589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9B6EFFC-C476-2121-B7E2-699B895E7D48}"/>
              </a:ext>
            </a:extLst>
          </p:cNvPr>
          <p:cNvSpPr>
            <a:spLocks noGrp="1" noChangeArrowheads="1"/>
          </p:cNvSpPr>
          <p:nvPr>
            <p:ph type="dt" sz="half" idx="10"/>
          </p:nvPr>
        </p:nvSpPr>
        <p:spPr>
          <a:ln/>
        </p:spPr>
        <p:txBody>
          <a:bodyPr/>
          <a:lstStyle>
            <a:lvl1pPr>
              <a:defRPr/>
            </a:lvl1pPr>
          </a:lstStyle>
          <a:p>
            <a:pPr>
              <a:defRPr/>
            </a:pPr>
            <a:endParaRPr lang="de-DE"/>
          </a:p>
        </p:txBody>
      </p:sp>
      <p:sp>
        <p:nvSpPr>
          <p:cNvPr id="3" name="Rectangle 5">
            <a:extLst>
              <a:ext uri="{FF2B5EF4-FFF2-40B4-BE49-F238E27FC236}">
                <a16:creationId xmlns:a16="http://schemas.microsoft.com/office/drawing/2014/main" id="{6D890482-94D1-C92B-F998-649CD5F6E817}"/>
              </a:ext>
            </a:extLst>
          </p:cNvPr>
          <p:cNvSpPr>
            <a:spLocks noGrp="1" noChangeArrowheads="1"/>
          </p:cNvSpPr>
          <p:nvPr>
            <p:ph type="ftr" sz="quarter" idx="11"/>
          </p:nvPr>
        </p:nvSpPr>
        <p:spPr>
          <a:ln/>
        </p:spPr>
        <p:txBody>
          <a:bodyPr/>
          <a:lstStyle>
            <a:lvl1pPr>
              <a:defRPr/>
            </a:lvl1pPr>
          </a:lstStyle>
          <a:p>
            <a:pPr>
              <a:defRPr/>
            </a:pPr>
            <a:endParaRPr lang="de-DE"/>
          </a:p>
        </p:txBody>
      </p:sp>
      <p:sp>
        <p:nvSpPr>
          <p:cNvPr id="4" name="Rectangle 6">
            <a:extLst>
              <a:ext uri="{FF2B5EF4-FFF2-40B4-BE49-F238E27FC236}">
                <a16:creationId xmlns:a16="http://schemas.microsoft.com/office/drawing/2014/main" id="{8347EFC2-FD11-9AB1-6914-C707D8BCFA49}"/>
              </a:ext>
            </a:extLst>
          </p:cNvPr>
          <p:cNvSpPr>
            <a:spLocks noGrp="1" noChangeArrowheads="1"/>
          </p:cNvSpPr>
          <p:nvPr>
            <p:ph type="sldNum" sz="quarter" idx="12"/>
          </p:nvPr>
        </p:nvSpPr>
        <p:spPr>
          <a:ln/>
        </p:spPr>
        <p:txBody>
          <a:bodyPr/>
          <a:lstStyle>
            <a:lvl1pPr>
              <a:defRPr/>
            </a:lvl1pPr>
          </a:lstStyle>
          <a:p>
            <a:fld id="{A284E8C9-29EC-3D41-99E0-4F6E3D31533A}" type="slidenum">
              <a:rPr lang="de-DE" altLang="en-US"/>
              <a:pPr/>
              <a:t>‹#›</a:t>
            </a:fld>
            <a:endParaRPr lang="de-DE" altLang="en-US"/>
          </a:p>
        </p:txBody>
      </p:sp>
    </p:spTree>
    <p:extLst>
      <p:ext uri="{BB962C8B-B14F-4D97-AF65-F5344CB8AC3E}">
        <p14:creationId xmlns:p14="http://schemas.microsoft.com/office/powerpoint/2010/main" val="255976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3761" y="1704975"/>
            <a:ext cx="9960958" cy="7251700"/>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6878" y="1704975"/>
            <a:ext cx="16924575" cy="3653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3761" y="8956675"/>
            <a:ext cx="9960958" cy="29279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5086E514-4E43-DF4E-3E78-36948F38EACD}"/>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DBDED11A-040F-5827-45D8-F54CE34E5EE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1FD8BB2E-749A-2FBB-E555-ED2FDF889C64}"/>
              </a:ext>
            </a:extLst>
          </p:cNvPr>
          <p:cNvSpPr>
            <a:spLocks noGrp="1" noChangeArrowheads="1"/>
          </p:cNvSpPr>
          <p:nvPr>
            <p:ph type="sldNum" sz="quarter" idx="12"/>
          </p:nvPr>
        </p:nvSpPr>
        <p:spPr>
          <a:ln/>
        </p:spPr>
        <p:txBody>
          <a:bodyPr/>
          <a:lstStyle>
            <a:lvl1pPr>
              <a:defRPr/>
            </a:lvl1pPr>
          </a:lstStyle>
          <a:p>
            <a:fld id="{CD6373B2-185C-B146-990F-E6E825EB30A2}" type="slidenum">
              <a:rPr lang="de-DE" altLang="en-US"/>
              <a:pPr/>
              <a:t>‹#›</a:t>
            </a:fld>
            <a:endParaRPr lang="de-DE" altLang="en-US"/>
          </a:p>
        </p:txBody>
      </p:sp>
    </p:spTree>
    <p:extLst>
      <p:ext uri="{BB962C8B-B14F-4D97-AF65-F5344CB8AC3E}">
        <p14:creationId xmlns:p14="http://schemas.microsoft.com/office/powerpoint/2010/main" val="5448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4323" y="29962475"/>
            <a:ext cx="18165128" cy="3536950"/>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4323" y="3824289"/>
            <a:ext cx="18165128" cy="25682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5934323" y="33499425"/>
            <a:ext cx="18165128"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93108817-66BD-6864-9273-D59EDF6CD05A}"/>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EC9DEF94-6E16-77EF-B1E4-CD1647C707E6}"/>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5B3ED498-C12D-D999-3B20-FB3300078F8B}"/>
              </a:ext>
            </a:extLst>
          </p:cNvPr>
          <p:cNvSpPr>
            <a:spLocks noGrp="1" noChangeArrowheads="1"/>
          </p:cNvSpPr>
          <p:nvPr>
            <p:ph type="sldNum" sz="quarter" idx="12"/>
          </p:nvPr>
        </p:nvSpPr>
        <p:spPr>
          <a:ln/>
        </p:spPr>
        <p:txBody>
          <a:bodyPr/>
          <a:lstStyle>
            <a:lvl1pPr>
              <a:defRPr/>
            </a:lvl1pPr>
          </a:lstStyle>
          <a:p>
            <a:fld id="{30C558BF-F187-E04B-9BC5-05A7498E1322}" type="slidenum">
              <a:rPr lang="de-DE" altLang="en-US"/>
              <a:pPr/>
              <a:t>‹#›</a:t>
            </a:fld>
            <a:endParaRPr lang="de-DE" altLang="en-US"/>
          </a:p>
        </p:txBody>
      </p:sp>
    </p:spTree>
    <p:extLst>
      <p:ext uri="{BB962C8B-B14F-4D97-AF65-F5344CB8AC3E}">
        <p14:creationId xmlns:p14="http://schemas.microsoft.com/office/powerpoint/2010/main" val="157640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08B9F273-3BEE-EFD7-422F-3F4B00591602}"/>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AD8730C-B466-81DD-018C-BA21A2F1CDE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3CF76BA-D194-1EA3-15F6-B173D06DB1A1}"/>
              </a:ext>
            </a:extLst>
          </p:cNvPr>
          <p:cNvSpPr>
            <a:spLocks noGrp="1" noChangeArrowheads="1"/>
          </p:cNvSpPr>
          <p:nvPr>
            <p:ph type="sldNum" sz="quarter" idx="12"/>
          </p:nvPr>
        </p:nvSpPr>
        <p:spPr>
          <a:ln/>
        </p:spPr>
        <p:txBody>
          <a:bodyPr/>
          <a:lstStyle>
            <a:lvl1pPr>
              <a:defRPr/>
            </a:lvl1pPr>
          </a:lstStyle>
          <a:p>
            <a:fld id="{E3B9F8F3-B8D3-AF47-8CFD-D437FF624FAB}" type="slidenum">
              <a:rPr lang="de-DE" altLang="en-US"/>
              <a:pPr/>
              <a:t>‹#›</a:t>
            </a:fld>
            <a:endParaRPr lang="de-DE" altLang="en-US"/>
          </a:p>
        </p:txBody>
      </p:sp>
    </p:spTree>
    <p:extLst>
      <p:ext uri="{BB962C8B-B14F-4D97-AF65-F5344CB8AC3E}">
        <p14:creationId xmlns:p14="http://schemas.microsoft.com/office/powerpoint/2010/main" val="56022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572281" y="3805239"/>
            <a:ext cx="6433086" cy="34242375"/>
          </a:xfrm>
        </p:spPr>
        <p:txBody>
          <a:bodyPr vert="eaVert"/>
          <a:lstStyle/>
          <a:p>
            <a:r>
              <a:rPr lang="de-DE"/>
              <a:t>Mastertitelformat bearbeiten</a:t>
            </a:r>
          </a:p>
        </p:txBody>
      </p:sp>
      <p:sp>
        <p:nvSpPr>
          <p:cNvPr id="3" name="Vertikaler Textplatzhalter 2"/>
          <p:cNvSpPr>
            <a:spLocks noGrp="1"/>
          </p:cNvSpPr>
          <p:nvPr>
            <p:ph type="body" orient="vert" idx="1"/>
          </p:nvPr>
        </p:nvSpPr>
        <p:spPr>
          <a:xfrm>
            <a:off x="2271436" y="3805239"/>
            <a:ext cx="19148358" cy="342423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B851339E-EF6A-CA06-EC5E-41DD06CC29E5}"/>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12E16CD7-7463-649F-2A88-A7639CFA635B}"/>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EB4A1226-B4F3-FB01-2191-0CE3A2A3A702}"/>
              </a:ext>
            </a:extLst>
          </p:cNvPr>
          <p:cNvSpPr>
            <a:spLocks noGrp="1" noChangeArrowheads="1"/>
          </p:cNvSpPr>
          <p:nvPr>
            <p:ph type="sldNum" sz="quarter" idx="12"/>
          </p:nvPr>
        </p:nvSpPr>
        <p:spPr>
          <a:ln/>
        </p:spPr>
        <p:txBody>
          <a:bodyPr/>
          <a:lstStyle>
            <a:lvl1pPr>
              <a:defRPr/>
            </a:lvl1pPr>
          </a:lstStyle>
          <a:p>
            <a:fld id="{7C01EEEB-9005-6F42-B21D-35CEA4432628}" type="slidenum">
              <a:rPr lang="de-DE" altLang="en-US"/>
              <a:pPr/>
              <a:t>‹#›</a:t>
            </a:fld>
            <a:endParaRPr lang="de-DE" altLang="en-US"/>
          </a:p>
        </p:txBody>
      </p:sp>
    </p:spTree>
    <p:extLst>
      <p:ext uri="{BB962C8B-B14F-4D97-AF65-F5344CB8AC3E}">
        <p14:creationId xmlns:p14="http://schemas.microsoft.com/office/powerpoint/2010/main" val="225427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C56689-E0BE-542A-063E-F17780BB7FC0}"/>
              </a:ext>
            </a:extLst>
          </p:cNvPr>
          <p:cNvSpPr>
            <a:spLocks noGrp="1" noChangeArrowheads="1"/>
          </p:cNvSpPr>
          <p:nvPr>
            <p:ph type="title"/>
          </p:nvPr>
        </p:nvSpPr>
        <p:spPr bwMode="auto">
          <a:xfrm>
            <a:off x="2271713" y="3805238"/>
            <a:ext cx="25733375" cy="71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ctr" anchorCtr="0" compatLnSpc="1">
            <a:prstTxWarp prst="textNoShape">
              <a:avLst/>
            </a:prstTxWarp>
          </a:bodyPr>
          <a:lstStyle/>
          <a:p>
            <a:pPr lvl="0"/>
            <a:r>
              <a:rPr lang="de-DE" altLang="en-US"/>
              <a:t>Mastertitelformat bearbeiten</a:t>
            </a:r>
          </a:p>
        </p:txBody>
      </p:sp>
      <p:sp>
        <p:nvSpPr>
          <p:cNvPr id="1027" name="Rectangle 3">
            <a:extLst>
              <a:ext uri="{FF2B5EF4-FFF2-40B4-BE49-F238E27FC236}">
                <a16:creationId xmlns:a16="http://schemas.microsoft.com/office/drawing/2014/main" id="{EA16AB73-5BDB-46AB-AB38-82E17B2283F4}"/>
              </a:ext>
            </a:extLst>
          </p:cNvPr>
          <p:cNvSpPr>
            <a:spLocks noGrp="1" noChangeArrowheads="1"/>
          </p:cNvSpPr>
          <p:nvPr>
            <p:ph type="body" idx="1"/>
          </p:nvPr>
        </p:nvSpPr>
        <p:spPr bwMode="auto">
          <a:xfrm>
            <a:off x="2271713" y="12365038"/>
            <a:ext cx="25733375" cy="256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t" anchorCtr="0" compatLnSpc="1">
            <a:prstTxWarp prst="textNoShape">
              <a:avLst/>
            </a:prstTxWarp>
          </a:bodyPr>
          <a:lstStyle/>
          <a:p>
            <a:pPr lvl="0"/>
            <a:r>
              <a:rPr lang="de-DE" altLang="en-US"/>
              <a:t>Mastertextformat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1028" name="Rectangle 4">
            <a:extLst>
              <a:ext uri="{FF2B5EF4-FFF2-40B4-BE49-F238E27FC236}">
                <a16:creationId xmlns:a16="http://schemas.microsoft.com/office/drawing/2014/main" id="{DA6ABE33-3DB5-C743-982E-132A123A15D1}"/>
              </a:ext>
            </a:extLst>
          </p:cNvPr>
          <p:cNvSpPr>
            <a:spLocks noGrp="1" noChangeArrowheads="1"/>
          </p:cNvSpPr>
          <p:nvPr>
            <p:ph type="dt" sz="half" idx="2"/>
          </p:nvPr>
        </p:nvSpPr>
        <p:spPr bwMode="auto">
          <a:xfrm>
            <a:off x="2271713" y="38998525"/>
            <a:ext cx="6305550"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defRPr sz="6400">
                <a:latin typeface="Arial" charset="0"/>
                <a:ea typeface="ＭＳ Ｐゴシック" pitchFamily="96" charset="-128"/>
                <a:cs typeface="ＭＳ Ｐゴシック" pitchFamily="96" charset="-128"/>
              </a:defRPr>
            </a:lvl1pPr>
          </a:lstStyle>
          <a:p>
            <a:pPr>
              <a:defRPr/>
            </a:pPr>
            <a:endParaRPr lang="de-DE"/>
          </a:p>
        </p:txBody>
      </p:sp>
      <p:sp>
        <p:nvSpPr>
          <p:cNvPr id="1029" name="Rectangle 5">
            <a:extLst>
              <a:ext uri="{FF2B5EF4-FFF2-40B4-BE49-F238E27FC236}">
                <a16:creationId xmlns:a16="http://schemas.microsoft.com/office/drawing/2014/main" id="{AEF744CB-0E83-254A-BBC5-D29F7A330B02}"/>
              </a:ext>
            </a:extLst>
          </p:cNvPr>
          <p:cNvSpPr>
            <a:spLocks noGrp="1" noChangeArrowheads="1"/>
          </p:cNvSpPr>
          <p:nvPr>
            <p:ph type="ftr" sz="quarter" idx="3"/>
          </p:nvPr>
        </p:nvSpPr>
        <p:spPr bwMode="auto">
          <a:xfrm>
            <a:off x="10344150" y="38998525"/>
            <a:ext cx="9586913"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ctr">
              <a:defRPr sz="6400">
                <a:latin typeface="Arial" charset="0"/>
                <a:ea typeface="ＭＳ Ｐゴシック" pitchFamily="96" charset="-128"/>
                <a:cs typeface="ＭＳ Ｐゴシック" pitchFamily="96" charset="-128"/>
              </a:defRPr>
            </a:lvl1pPr>
          </a:lstStyle>
          <a:p>
            <a:pPr>
              <a:defRPr/>
            </a:pPr>
            <a:endParaRPr lang="de-DE"/>
          </a:p>
        </p:txBody>
      </p:sp>
      <p:sp>
        <p:nvSpPr>
          <p:cNvPr id="1030" name="Rectangle 6">
            <a:extLst>
              <a:ext uri="{FF2B5EF4-FFF2-40B4-BE49-F238E27FC236}">
                <a16:creationId xmlns:a16="http://schemas.microsoft.com/office/drawing/2014/main" id="{A6C0CC14-A0FA-F84A-B0A2-30160D910A9B}"/>
              </a:ext>
            </a:extLst>
          </p:cNvPr>
          <p:cNvSpPr>
            <a:spLocks noGrp="1" noChangeArrowheads="1"/>
          </p:cNvSpPr>
          <p:nvPr>
            <p:ph type="sldNum" sz="quarter" idx="4"/>
          </p:nvPr>
        </p:nvSpPr>
        <p:spPr bwMode="auto">
          <a:xfrm>
            <a:off x="21697950" y="38998525"/>
            <a:ext cx="6307138"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r">
              <a:defRPr sz="6400"/>
            </a:lvl1pPr>
          </a:lstStyle>
          <a:p>
            <a:fld id="{6ADCCD56-346A-DF46-8387-B6EB15B6CF87}" type="slidenum">
              <a:rPr lang="de-DE" altLang="en-US"/>
              <a:pPr/>
              <a:t>‹#›</a:t>
            </a:fld>
            <a:endParaRPr lang="de-DE"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5125" rtl="0" eaLnBrk="0" fontAlgn="base" hangingPunct="0">
        <a:spcBef>
          <a:spcPct val="0"/>
        </a:spcBef>
        <a:spcAft>
          <a:spcPct val="0"/>
        </a:spcAft>
        <a:defRPr sz="20100">
          <a:solidFill>
            <a:schemeClr val="tx2"/>
          </a:solidFill>
          <a:latin typeface="+mj-lt"/>
          <a:ea typeface="+mj-ea"/>
          <a:cs typeface="+mj-cs"/>
        </a:defRPr>
      </a:lvl1pPr>
      <a:lvl2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2pPr>
      <a:lvl3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3pPr>
      <a:lvl4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4pPr>
      <a:lvl5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5pPr>
      <a:lvl6pPr marL="4572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6pPr>
      <a:lvl7pPr marL="9144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7pPr>
      <a:lvl8pPr marL="13716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8pPr>
      <a:lvl9pPr marL="18288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9pPr>
    </p:titleStyle>
    <p:bodyStyle>
      <a:lvl1pPr marL="1565275" indent="-1565275" algn="l" defTabSz="4175125" rtl="0" eaLnBrk="0" fontAlgn="base" hangingPunct="0">
        <a:spcBef>
          <a:spcPct val="20000"/>
        </a:spcBef>
        <a:spcAft>
          <a:spcPct val="0"/>
        </a:spcAft>
        <a:buChar char="•"/>
        <a:defRPr sz="14600">
          <a:solidFill>
            <a:schemeClr val="tx1"/>
          </a:solidFill>
          <a:latin typeface="+mn-lt"/>
          <a:ea typeface="+mn-ea"/>
          <a:cs typeface="+mn-cs"/>
        </a:defRPr>
      </a:lvl1pPr>
      <a:lvl2pPr marL="3392488" indent="-1304925" algn="l" defTabSz="4175125" rtl="0" eaLnBrk="0" fontAlgn="base" hangingPunct="0">
        <a:spcBef>
          <a:spcPct val="20000"/>
        </a:spcBef>
        <a:spcAft>
          <a:spcPct val="0"/>
        </a:spcAft>
        <a:buChar char="–"/>
        <a:defRPr sz="12800">
          <a:solidFill>
            <a:schemeClr val="tx1"/>
          </a:solidFill>
          <a:latin typeface="+mn-lt"/>
          <a:ea typeface="+mn-ea"/>
          <a:cs typeface="+mn-cs"/>
        </a:defRPr>
      </a:lvl2pPr>
      <a:lvl3pPr marL="5218113" indent="-1042988" algn="l" defTabSz="4175125" rtl="0" eaLnBrk="0" fontAlgn="base" hangingPunct="0">
        <a:spcBef>
          <a:spcPct val="20000"/>
        </a:spcBef>
        <a:spcAft>
          <a:spcPct val="0"/>
        </a:spcAft>
        <a:buChar char="•"/>
        <a:defRPr sz="11000">
          <a:solidFill>
            <a:schemeClr val="tx1"/>
          </a:solidFill>
          <a:latin typeface="+mn-lt"/>
          <a:ea typeface="+mn-ea"/>
          <a:cs typeface="+mn-cs"/>
        </a:defRPr>
      </a:lvl3pPr>
      <a:lvl4pPr marL="7305675" indent="-1042988" algn="l" defTabSz="4175125" rtl="0" eaLnBrk="0" fontAlgn="base" hangingPunct="0">
        <a:spcBef>
          <a:spcPct val="20000"/>
        </a:spcBef>
        <a:spcAft>
          <a:spcPct val="0"/>
        </a:spcAft>
        <a:buChar char="–"/>
        <a:defRPr sz="9100">
          <a:solidFill>
            <a:schemeClr val="tx1"/>
          </a:solidFill>
          <a:latin typeface="+mn-lt"/>
          <a:ea typeface="+mn-ea"/>
          <a:cs typeface="+mn-cs"/>
        </a:defRPr>
      </a:lvl4pPr>
      <a:lvl5pPr marL="9393238" indent="-1042988" algn="l" defTabSz="4175125" rtl="0" eaLnBrk="0" fontAlgn="base" hangingPunct="0">
        <a:spcBef>
          <a:spcPct val="20000"/>
        </a:spcBef>
        <a:spcAft>
          <a:spcPct val="0"/>
        </a:spcAft>
        <a:buChar char="»"/>
        <a:defRPr sz="9100">
          <a:solidFill>
            <a:schemeClr val="tx1"/>
          </a:solidFill>
          <a:latin typeface="+mn-lt"/>
          <a:ea typeface="+mn-ea"/>
          <a:cs typeface="+mn-cs"/>
        </a:defRPr>
      </a:lvl5pPr>
      <a:lvl6pPr marL="9850438" indent="-1042988" algn="l" defTabSz="4175125" rtl="0" fontAlgn="base">
        <a:spcBef>
          <a:spcPct val="20000"/>
        </a:spcBef>
        <a:spcAft>
          <a:spcPct val="0"/>
        </a:spcAft>
        <a:buChar char="»"/>
        <a:defRPr sz="9100">
          <a:solidFill>
            <a:schemeClr val="tx1"/>
          </a:solidFill>
          <a:latin typeface="+mn-lt"/>
          <a:ea typeface="+mn-ea"/>
          <a:cs typeface="+mn-cs"/>
        </a:defRPr>
      </a:lvl6pPr>
      <a:lvl7pPr marL="10307638" indent="-1042988" algn="l" defTabSz="4175125" rtl="0" fontAlgn="base">
        <a:spcBef>
          <a:spcPct val="20000"/>
        </a:spcBef>
        <a:spcAft>
          <a:spcPct val="0"/>
        </a:spcAft>
        <a:buChar char="»"/>
        <a:defRPr sz="9100">
          <a:solidFill>
            <a:schemeClr val="tx1"/>
          </a:solidFill>
          <a:latin typeface="+mn-lt"/>
          <a:ea typeface="+mn-ea"/>
          <a:cs typeface="+mn-cs"/>
        </a:defRPr>
      </a:lvl7pPr>
      <a:lvl8pPr marL="10764838" indent="-1042988" algn="l" defTabSz="4175125" rtl="0" fontAlgn="base">
        <a:spcBef>
          <a:spcPct val="20000"/>
        </a:spcBef>
        <a:spcAft>
          <a:spcPct val="0"/>
        </a:spcAft>
        <a:buChar char="»"/>
        <a:defRPr sz="9100">
          <a:solidFill>
            <a:schemeClr val="tx1"/>
          </a:solidFill>
          <a:latin typeface="+mn-lt"/>
          <a:ea typeface="+mn-ea"/>
          <a:cs typeface="+mn-cs"/>
        </a:defRPr>
      </a:lvl8pPr>
      <a:lvl9pPr marL="11222038" indent="-1042988" algn="l" defTabSz="4175125" rtl="0" fontAlgn="base">
        <a:spcBef>
          <a:spcPct val="20000"/>
        </a:spcBef>
        <a:spcAft>
          <a:spcPct val="0"/>
        </a:spcAft>
        <a:buChar char="»"/>
        <a:defRPr sz="91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13D733B1-3C19-3596-C462-5A6A9BA7D2CB}"/>
              </a:ext>
            </a:extLst>
          </p:cNvPr>
          <p:cNvGrpSpPr/>
          <p:nvPr/>
        </p:nvGrpSpPr>
        <p:grpSpPr>
          <a:xfrm>
            <a:off x="15968722" y="26113360"/>
            <a:ext cx="12300613" cy="12068675"/>
            <a:chOff x="16035483" y="27666579"/>
            <a:chExt cx="12300613" cy="12068675"/>
          </a:xfrm>
        </p:grpSpPr>
        <p:grpSp>
          <p:nvGrpSpPr>
            <p:cNvPr id="6" name="Group 5">
              <a:extLst>
                <a:ext uri="{FF2B5EF4-FFF2-40B4-BE49-F238E27FC236}">
                  <a16:creationId xmlns:a16="http://schemas.microsoft.com/office/drawing/2014/main" id="{CDF9CB50-87A5-98A4-2E58-8F70B40FFAF4}"/>
                </a:ext>
              </a:extLst>
            </p:cNvPr>
            <p:cNvGrpSpPr/>
            <p:nvPr/>
          </p:nvGrpSpPr>
          <p:grpSpPr>
            <a:xfrm>
              <a:off x="16035483" y="33715250"/>
              <a:ext cx="12300613" cy="6020004"/>
              <a:chOff x="11251406" y="19725767"/>
              <a:chExt cx="7816742" cy="3859038"/>
            </a:xfrm>
          </p:grpSpPr>
          <p:pic>
            <p:nvPicPr>
              <p:cNvPr id="4" name="Picture 3">
                <a:extLst>
                  <a:ext uri="{FF2B5EF4-FFF2-40B4-BE49-F238E27FC236}">
                    <a16:creationId xmlns:a16="http://schemas.microsoft.com/office/drawing/2014/main" id="{00417CFF-9A21-C54C-7473-A6DFF0632EE1}"/>
                  </a:ext>
                </a:extLst>
              </p:cNvPr>
              <p:cNvPicPr>
                <a:picLocks noChangeAspect="1"/>
              </p:cNvPicPr>
              <p:nvPr/>
            </p:nvPicPr>
            <p:blipFill>
              <a:blip r:embed="rId3"/>
              <a:stretch>
                <a:fillRect/>
              </a:stretch>
            </p:blipFill>
            <p:spPr>
              <a:xfrm>
                <a:off x="11251406" y="19725767"/>
                <a:ext cx="7816742" cy="3352227"/>
              </a:xfrm>
              <a:prstGeom prst="rect">
                <a:avLst/>
              </a:prstGeom>
            </p:spPr>
          </p:pic>
          <p:sp>
            <p:nvSpPr>
              <p:cNvPr id="5" name="TextBox 4">
                <a:extLst>
                  <a:ext uri="{FF2B5EF4-FFF2-40B4-BE49-F238E27FC236}">
                    <a16:creationId xmlns:a16="http://schemas.microsoft.com/office/drawing/2014/main" id="{631E8489-2EC6-ED5C-C10E-BE2E9CE7EFE2}"/>
                  </a:ext>
                </a:extLst>
              </p:cNvPr>
              <p:cNvSpPr txBox="1"/>
              <p:nvPr/>
            </p:nvSpPr>
            <p:spPr>
              <a:xfrm>
                <a:off x="11295748" y="23131025"/>
                <a:ext cx="7772400" cy="453780"/>
              </a:xfrm>
              <a:prstGeom prst="rect">
                <a:avLst/>
              </a:prstGeom>
              <a:noFill/>
            </p:spPr>
            <p:txBody>
              <a:bodyPr wrap="square" rtlCol="0">
                <a:spAutoFit/>
              </a:bodyPr>
              <a:lstStyle/>
              <a:p>
                <a:r>
                  <a:rPr lang="en-US" sz="2000" b="1" i="1" dirty="0"/>
                  <a:t>Figure 3. </a:t>
                </a:r>
                <a:r>
                  <a:rPr lang="en-US" sz="2000" dirty="0"/>
                  <a:t>HMM states with the highest probability of occurring at each point in time for each participant (Trial) grouped into clinical (</a:t>
                </a:r>
                <a:r>
                  <a:rPr lang="en-US" sz="2000" i="1" dirty="0"/>
                  <a:t>Top</a:t>
                </a:r>
                <a:r>
                  <a:rPr lang="en-US" sz="2000" dirty="0"/>
                  <a:t>) and control (</a:t>
                </a:r>
                <a:r>
                  <a:rPr lang="en-US" sz="2000" i="1" dirty="0"/>
                  <a:t>Bottom</a:t>
                </a:r>
                <a:r>
                  <a:rPr lang="en-US" sz="2000" dirty="0"/>
                  <a:t>). </a:t>
                </a:r>
                <a:r>
                  <a:rPr lang="en-US" sz="2000" dirty="0" err="1"/>
                  <a:t>Colour</a:t>
                </a:r>
                <a:r>
                  <a:rPr lang="en-US" sz="2000" dirty="0"/>
                  <a:t> key to states can be found in Figure 2. </a:t>
                </a:r>
              </a:p>
            </p:txBody>
          </p:sp>
        </p:grpSp>
        <p:pic>
          <p:nvPicPr>
            <p:cNvPr id="7" name="Picture 6">
              <a:extLst>
                <a:ext uri="{FF2B5EF4-FFF2-40B4-BE49-F238E27FC236}">
                  <a16:creationId xmlns:a16="http://schemas.microsoft.com/office/drawing/2014/main" id="{BF952861-0F2A-E53B-B0C8-6B4DD51DF9FC}"/>
                </a:ext>
              </a:extLst>
            </p:cNvPr>
            <p:cNvPicPr>
              <a:picLocks noChangeAspect="1"/>
            </p:cNvPicPr>
            <p:nvPr/>
          </p:nvPicPr>
          <p:blipFill>
            <a:blip r:embed="rId4"/>
            <a:stretch>
              <a:fillRect/>
            </a:stretch>
          </p:blipFill>
          <p:spPr>
            <a:xfrm>
              <a:off x="16105261" y="27666579"/>
              <a:ext cx="12230835" cy="5867833"/>
            </a:xfrm>
            <a:prstGeom prst="rect">
              <a:avLst/>
            </a:prstGeom>
          </p:spPr>
        </p:pic>
      </p:grpSp>
      <p:grpSp>
        <p:nvGrpSpPr>
          <p:cNvPr id="12" name="Group 11">
            <a:extLst>
              <a:ext uri="{FF2B5EF4-FFF2-40B4-BE49-F238E27FC236}">
                <a16:creationId xmlns:a16="http://schemas.microsoft.com/office/drawing/2014/main" id="{02244919-53E7-9399-47F2-D12F7C5A795C}"/>
              </a:ext>
            </a:extLst>
          </p:cNvPr>
          <p:cNvGrpSpPr/>
          <p:nvPr/>
        </p:nvGrpSpPr>
        <p:grpSpPr>
          <a:xfrm>
            <a:off x="1335190" y="14017268"/>
            <a:ext cx="26940163" cy="4521723"/>
            <a:chOff x="1731402" y="7821566"/>
            <a:chExt cx="26812408" cy="4206081"/>
          </a:xfrm>
        </p:grpSpPr>
        <p:pic>
          <p:nvPicPr>
            <p:cNvPr id="10" name="Picture 9">
              <a:extLst>
                <a:ext uri="{FF2B5EF4-FFF2-40B4-BE49-F238E27FC236}">
                  <a16:creationId xmlns:a16="http://schemas.microsoft.com/office/drawing/2014/main" id="{56DB4F5E-D720-44FB-2FE7-EFE58F9C1C1F}"/>
                </a:ext>
              </a:extLst>
            </p:cNvPr>
            <p:cNvPicPr>
              <a:picLocks noChangeAspect="1"/>
            </p:cNvPicPr>
            <p:nvPr/>
          </p:nvPicPr>
          <p:blipFill>
            <a:blip r:embed="rId5"/>
            <a:stretch>
              <a:fillRect/>
            </a:stretch>
          </p:blipFill>
          <p:spPr>
            <a:xfrm>
              <a:off x="1731402" y="7821566"/>
              <a:ext cx="26812408" cy="3744416"/>
            </a:xfrm>
            <a:prstGeom prst="rect">
              <a:avLst/>
            </a:prstGeom>
          </p:spPr>
        </p:pic>
        <p:sp>
          <p:nvSpPr>
            <p:cNvPr id="11" name="TextBox 10">
              <a:extLst>
                <a:ext uri="{FF2B5EF4-FFF2-40B4-BE49-F238E27FC236}">
                  <a16:creationId xmlns:a16="http://schemas.microsoft.com/office/drawing/2014/main" id="{576BD248-C541-69EF-8DD3-C069D91B5B6A}"/>
                </a:ext>
              </a:extLst>
            </p:cNvPr>
            <p:cNvSpPr txBox="1"/>
            <p:nvPr/>
          </p:nvSpPr>
          <p:spPr>
            <a:xfrm>
              <a:off x="2032722" y="11565982"/>
              <a:ext cx="26511088" cy="461665"/>
            </a:xfrm>
            <a:prstGeom prst="rect">
              <a:avLst/>
            </a:prstGeom>
            <a:noFill/>
          </p:spPr>
          <p:txBody>
            <a:bodyPr wrap="square" rtlCol="0">
              <a:spAutoFit/>
            </a:bodyPr>
            <a:lstStyle/>
            <a:p>
              <a:r>
                <a:rPr lang="en-US" dirty="0"/>
                <a:t>SZD</a:t>
              </a:r>
            </a:p>
          </p:txBody>
        </p:sp>
      </p:grpSp>
      <p:grpSp>
        <p:nvGrpSpPr>
          <p:cNvPr id="15" name="Group 14">
            <a:extLst>
              <a:ext uri="{FF2B5EF4-FFF2-40B4-BE49-F238E27FC236}">
                <a16:creationId xmlns:a16="http://schemas.microsoft.com/office/drawing/2014/main" id="{EB66C3B8-5FC6-1397-3078-434B2469929B}"/>
              </a:ext>
            </a:extLst>
          </p:cNvPr>
          <p:cNvGrpSpPr/>
          <p:nvPr/>
        </p:nvGrpSpPr>
        <p:grpSpPr>
          <a:xfrm>
            <a:off x="859629" y="18042681"/>
            <a:ext cx="27415723" cy="4417495"/>
            <a:chOff x="1472713" y="12352966"/>
            <a:chExt cx="27231749" cy="3750024"/>
          </a:xfrm>
        </p:grpSpPr>
        <p:pic>
          <p:nvPicPr>
            <p:cNvPr id="13" name="Picture 12">
              <a:extLst>
                <a:ext uri="{FF2B5EF4-FFF2-40B4-BE49-F238E27FC236}">
                  <a16:creationId xmlns:a16="http://schemas.microsoft.com/office/drawing/2014/main" id="{D37DBCC0-9457-B670-C5C1-A3BFB349921C}"/>
                </a:ext>
              </a:extLst>
            </p:cNvPr>
            <p:cNvPicPr>
              <a:picLocks noChangeAspect="1"/>
            </p:cNvPicPr>
            <p:nvPr/>
          </p:nvPicPr>
          <p:blipFill>
            <a:blip r:embed="rId6"/>
            <a:stretch>
              <a:fillRect/>
            </a:stretch>
          </p:blipFill>
          <p:spPr>
            <a:xfrm>
              <a:off x="1892054" y="12352966"/>
              <a:ext cx="26812408" cy="3307500"/>
            </a:xfrm>
            <a:prstGeom prst="rect">
              <a:avLst/>
            </a:prstGeom>
          </p:spPr>
        </p:pic>
        <p:sp>
          <p:nvSpPr>
            <p:cNvPr id="14" name="TextBox 13">
              <a:extLst>
                <a:ext uri="{FF2B5EF4-FFF2-40B4-BE49-F238E27FC236}">
                  <a16:creationId xmlns:a16="http://schemas.microsoft.com/office/drawing/2014/main" id="{16307532-9661-EF96-D62E-CC2EB1DF0A3F}"/>
                </a:ext>
              </a:extLst>
            </p:cNvPr>
            <p:cNvSpPr txBox="1"/>
            <p:nvPr/>
          </p:nvSpPr>
          <p:spPr>
            <a:xfrm>
              <a:off x="1472713" y="15763335"/>
              <a:ext cx="27225772" cy="339655"/>
            </a:xfrm>
            <a:prstGeom prst="rect">
              <a:avLst/>
            </a:prstGeom>
            <a:noFill/>
          </p:spPr>
          <p:txBody>
            <a:bodyPr wrap="square" rtlCol="0">
              <a:spAutoFit/>
            </a:bodyPr>
            <a:lstStyle/>
            <a:p>
              <a:r>
                <a:rPr lang="en-US" sz="2000" b="1" i="1" dirty="0"/>
                <a:t>Figure 1. </a:t>
              </a:r>
              <a:r>
                <a:rPr lang="en-US" sz="2000" dirty="0"/>
                <a:t>Line graph of probability of each HMM state at each point in time during video viewing. </a:t>
              </a:r>
              <a:r>
                <a:rPr lang="en-US" sz="2000" i="1" dirty="0"/>
                <a:t>Top </a:t>
              </a:r>
              <a:r>
                <a:rPr lang="en-US" sz="2000" dirty="0"/>
                <a:t>graph is clinical group, </a:t>
              </a:r>
              <a:r>
                <a:rPr lang="en-US" sz="2000" i="1" dirty="0"/>
                <a:t>Bottom</a:t>
              </a:r>
              <a:r>
                <a:rPr lang="en-US" sz="2000" dirty="0"/>
                <a:t> graph is control group. </a:t>
              </a:r>
              <a:r>
                <a:rPr lang="en-US" sz="2000" dirty="0" err="1"/>
                <a:t>Colour</a:t>
              </a:r>
              <a:r>
                <a:rPr lang="en-US" sz="2000" dirty="0"/>
                <a:t> key to states can be found in Figure 2. </a:t>
              </a:r>
            </a:p>
          </p:txBody>
        </p:sp>
      </p:grpSp>
      <p:sp>
        <p:nvSpPr>
          <p:cNvPr id="17" name="Rectangle 1">
            <a:extLst>
              <a:ext uri="{FF2B5EF4-FFF2-40B4-BE49-F238E27FC236}">
                <a16:creationId xmlns:a16="http://schemas.microsoft.com/office/drawing/2014/main" id="{DE83DBB1-C739-F237-1B5E-DA0EE15AD78B}"/>
              </a:ext>
            </a:extLst>
          </p:cNvPr>
          <p:cNvSpPr>
            <a:spLocks noChangeArrowheads="1"/>
          </p:cNvSpPr>
          <p:nvPr/>
        </p:nvSpPr>
        <p:spPr bwMode="auto">
          <a:xfrm>
            <a:off x="12105406" y="18034744"/>
            <a:ext cx="30275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 name="Table 20">
            <a:extLst>
              <a:ext uri="{FF2B5EF4-FFF2-40B4-BE49-F238E27FC236}">
                <a16:creationId xmlns:a16="http://schemas.microsoft.com/office/drawing/2014/main" id="{79D02036-430E-DAC3-7B3B-FE3B58B75407}"/>
              </a:ext>
            </a:extLst>
          </p:cNvPr>
          <p:cNvGraphicFramePr>
            <a:graphicFrameLocks noGrp="1"/>
          </p:cNvGraphicFramePr>
          <p:nvPr>
            <p:extLst>
              <p:ext uri="{D42A27DB-BD31-4B8C-83A1-F6EECF244321}">
                <p14:modId xmlns:p14="http://schemas.microsoft.com/office/powerpoint/2010/main" val="174156112"/>
              </p:ext>
            </p:extLst>
          </p:nvPr>
        </p:nvGraphicFramePr>
        <p:xfrm>
          <a:off x="1028858" y="29423777"/>
          <a:ext cx="13526982" cy="5867836"/>
        </p:xfrm>
        <a:graphic>
          <a:graphicData uri="http://schemas.openxmlformats.org/drawingml/2006/table">
            <a:tbl>
              <a:tblPr>
                <a:tableStyleId>{5C22544A-7EE6-4342-B048-85BDC9FD1C3A}</a:tableStyleId>
              </a:tblPr>
              <a:tblGrid>
                <a:gridCol w="1936866">
                  <a:extLst>
                    <a:ext uri="{9D8B030D-6E8A-4147-A177-3AD203B41FA5}">
                      <a16:colId xmlns:a16="http://schemas.microsoft.com/office/drawing/2014/main" val="1950710897"/>
                    </a:ext>
                  </a:extLst>
                </a:gridCol>
                <a:gridCol w="3959956">
                  <a:extLst>
                    <a:ext uri="{9D8B030D-6E8A-4147-A177-3AD203B41FA5}">
                      <a16:colId xmlns:a16="http://schemas.microsoft.com/office/drawing/2014/main" val="1218109876"/>
                    </a:ext>
                  </a:extLst>
                </a:gridCol>
                <a:gridCol w="3959956">
                  <a:extLst>
                    <a:ext uri="{9D8B030D-6E8A-4147-A177-3AD203B41FA5}">
                      <a16:colId xmlns:a16="http://schemas.microsoft.com/office/drawing/2014/main" val="4090963820"/>
                    </a:ext>
                  </a:extLst>
                </a:gridCol>
                <a:gridCol w="3670204">
                  <a:extLst>
                    <a:ext uri="{9D8B030D-6E8A-4147-A177-3AD203B41FA5}">
                      <a16:colId xmlns:a16="http://schemas.microsoft.com/office/drawing/2014/main" val="1115190856"/>
                    </a:ext>
                  </a:extLst>
                </a:gridCol>
              </a:tblGrid>
              <a:tr h="472381">
                <a:tc>
                  <a:txBody>
                    <a:bodyPr/>
                    <a:lstStyle/>
                    <a:p>
                      <a:pPr algn="ctr" fontAlgn="b">
                        <a:buNone/>
                      </a:pPr>
                      <a:r>
                        <a:rPr lang="en-AU" sz="1800" u="none" strike="noStrike" dirty="0">
                          <a:solidFill>
                            <a:schemeClr val="bg1"/>
                          </a:solidFill>
                          <a:effectLst/>
                        </a:rPr>
                        <a:t>HMM State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b="0" i="0" u="none" strike="noStrike" dirty="0">
                          <a:solidFill>
                            <a:schemeClr val="bg1"/>
                          </a:solidFill>
                          <a:effectLst/>
                          <a:latin typeface="Calibri" panose="020F0502020204030204" pitchFamily="34" charset="0"/>
                        </a:rPr>
                        <a:t>Standard Deviation</a:t>
                      </a: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Adjusted 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extLst>
                  <a:ext uri="{0D108BD9-81ED-4DB2-BD59-A6C34878D82A}">
                    <a16:rowId xmlns:a16="http://schemas.microsoft.com/office/drawing/2014/main" val="3081141268"/>
                  </a:ext>
                </a:extLst>
              </a:tr>
              <a:tr h="599495">
                <a:tc>
                  <a:txBody>
                    <a:bodyPr/>
                    <a:lstStyle/>
                    <a:p>
                      <a:pPr algn="ctr" fontAlgn="b">
                        <a:buNone/>
                      </a:pPr>
                      <a:r>
                        <a:rPr lang="en-AU" sz="1800" u="none" strike="noStrike" dirty="0">
                          <a:effectLst/>
                        </a:rPr>
                        <a:t>1</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0.616714493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0.029380785</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866378785"/>
                  </a:ext>
                </a:extLst>
              </a:tr>
              <a:tr h="599495">
                <a:tc>
                  <a:txBody>
                    <a:bodyPr/>
                    <a:lstStyle/>
                    <a:p>
                      <a:pPr algn="ctr" fontAlgn="b">
                        <a:buNone/>
                      </a:pPr>
                      <a:r>
                        <a:rPr lang="en-AU" sz="1800" u="none" strike="noStrike" dirty="0">
                          <a:effectLst/>
                        </a:rPr>
                        <a:t>2</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0.40680231</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0.029972409</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a:effectLst/>
                        </a:rPr>
                        <a:t>0.610203464</a:t>
                      </a:r>
                      <a:endParaRPr lang="en-AU" sz="1800" b="0" i="0" u="none" strike="noStrike">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565870905"/>
                  </a:ext>
                </a:extLst>
              </a:tr>
              <a:tr h="599495">
                <a:tc>
                  <a:txBody>
                    <a:bodyPr/>
                    <a:lstStyle/>
                    <a:p>
                      <a:pPr algn="ctr" fontAlgn="b">
                        <a:buNone/>
                      </a:pPr>
                      <a:r>
                        <a:rPr lang="en-AU" sz="1800" u="none" strike="noStrike" dirty="0">
                          <a:effectLst/>
                        </a:rPr>
                        <a:t>3</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0.024935476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9532118"/>
                  </a:ext>
                </a:extLst>
              </a:tr>
              <a:tr h="599495">
                <a:tc>
                  <a:txBody>
                    <a:bodyPr/>
                    <a:lstStyle/>
                    <a:p>
                      <a:pPr algn="ctr" fontAlgn="b">
                        <a:buNone/>
                      </a:pPr>
                      <a:r>
                        <a:rPr lang="en-AU" sz="1800" u="none" strike="noStrike" dirty="0">
                          <a:effectLst/>
                        </a:rPr>
                        <a:t>4</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b="1" u="none" strike="noStrike" dirty="0">
                          <a:effectLst/>
                        </a:rPr>
                        <a:t>0.011454808</a:t>
                      </a:r>
                      <a:endParaRPr lang="en-AU" sz="1800" b="1"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0.05276286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0.103093273</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587250126"/>
                  </a:ext>
                </a:extLst>
              </a:tr>
              <a:tr h="599495">
                <a:tc>
                  <a:txBody>
                    <a:bodyPr/>
                    <a:lstStyle/>
                    <a:p>
                      <a:pPr algn="ctr" fontAlgn="b">
                        <a:buNone/>
                      </a:pPr>
                      <a:r>
                        <a:rPr lang="en-AU" sz="1800" u="none" strike="noStrike" dirty="0">
                          <a:effectLst/>
                        </a:rPr>
                        <a:t>5</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b="1" u="none" strike="noStrike" dirty="0">
                          <a:effectLst/>
                        </a:rPr>
                        <a:t>0.033444333</a:t>
                      </a:r>
                      <a:endParaRPr lang="en-AU" sz="1800" b="1"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0.027101147</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a:effectLst/>
                        </a:rPr>
                        <a:t>0.1504995</a:t>
                      </a:r>
                      <a:endParaRPr lang="en-AU" sz="1800" b="0" i="0" u="none" strike="noStrike">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271637553"/>
                  </a:ext>
                </a:extLst>
              </a:tr>
              <a:tr h="599495">
                <a:tc>
                  <a:txBody>
                    <a:bodyPr/>
                    <a:lstStyle/>
                    <a:p>
                      <a:pPr algn="ctr" fontAlgn="b">
                        <a:buNone/>
                      </a:pPr>
                      <a:r>
                        <a:rPr lang="en-AU" sz="1800" u="none" strike="noStrike" dirty="0">
                          <a:effectLst/>
                        </a:rPr>
                        <a:t>6</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0.241973669</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0.028741026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0.544440756</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955994951"/>
                  </a:ext>
                </a:extLst>
              </a:tr>
              <a:tr h="599495">
                <a:tc>
                  <a:txBody>
                    <a:bodyPr/>
                    <a:lstStyle/>
                    <a:p>
                      <a:pPr algn="ctr" fontAlgn="b">
                        <a:buNone/>
                      </a:pPr>
                      <a:r>
                        <a:rPr lang="en-AU" sz="1800" u="none" strike="noStrike" dirty="0">
                          <a:effectLst/>
                        </a:rPr>
                        <a:t>7</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a:effectLst/>
                        </a:rPr>
                        <a:t>0.317530437</a:t>
                      </a:r>
                      <a:endParaRPr lang="en-AU" sz="1800" b="0" i="0" u="none" strike="noStrike">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0.033597883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0.571554787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021625743"/>
                  </a:ext>
                </a:extLst>
              </a:tr>
              <a:tr h="599495">
                <a:tc>
                  <a:txBody>
                    <a:bodyPr/>
                    <a:lstStyle/>
                    <a:p>
                      <a:pPr algn="ctr" fontAlgn="b">
                        <a:buNone/>
                      </a:pPr>
                      <a:r>
                        <a:rPr lang="en-AU" sz="1800" u="none" strike="noStrike" dirty="0">
                          <a:effectLst/>
                        </a:rPr>
                        <a:t>8</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a:effectLst/>
                        </a:rPr>
                        <a:t>0.660840034</a:t>
                      </a:r>
                      <a:endParaRPr lang="en-AU" sz="1800" b="0" i="0" u="none" strike="noStrike">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0.03525043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25066314"/>
                  </a:ext>
                </a:extLst>
              </a:tr>
              <a:tr h="599495">
                <a:tc>
                  <a:txBody>
                    <a:bodyPr/>
                    <a:lstStyle/>
                    <a:p>
                      <a:pPr algn="ctr" fontAlgn="b">
                        <a:buNone/>
                      </a:pPr>
                      <a:r>
                        <a:rPr lang="en-AU" sz="1800" u="none" strike="noStrike" dirty="0">
                          <a:effectLst/>
                        </a:rPr>
                        <a:t>9</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0.124843396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0.033135261</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0.374530187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186248895"/>
                  </a:ext>
                </a:extLst>
              </a:tr>
            </a:tbl>
          </a:graphicData>
        </a:graphic>
      </p:graphicFrame>
      <p:sp>
        <p:nvSpPr>
          <p:cNvPr id="23" name="TextBox 22">
            <a:extLst>
              <a:ext uri="{FF2B5EF4-FFF2-40B4-BE49-F238E27FC236}">
                <a16:creationId xmlns:a16="http://schemas.microsoft.com/office/drawing/2014/main" id="{9EC6A6AC-2699-263D-DCA6-CCBDE32F4D72}"/>
              </a:ext>
            </a:extLst>
          </p:cNvPr>
          <p:cNvSpPr txBox="1"/>
          <p:nvPr/>
        </p:nvSpPr>
        <p:spPr>
          <a:xfrm>
            <a:off x="1028859" y="783168"/>
            <a:ext cx="27698229" cy="3447098"/>
          </a:xfrm>
          <a:prstGeom prst="rect">
            <a:avLst/>
          </a:prstGeom>
          <a:noFill/>
        </p:spPr>
        <p:txBody>
          <a:bodyPr wrap="square" rtlCol="0">
            <a:spAutoFit/>
          </a:bodyPr>
          <a:lstStyle/>
          <a:p>
            <a:pPr lvl="0"/>
            <a:r>
              <a:rPr lang="en-US" sz="6600" b="1" dirty="0">
                <a:latin typeface="Arial Black" panose="020B0604020202020204" pitchFamily="34" charset="0"/>
                <a:cs typeface="Arial Black" panose="020B0604020202020204" pitchFamily="34" charset="0"/>
              </a:rPr>
              <a:t>Functional Connectivity during Emotional Video viewing with Psychotic diagnoses </a:t>
            </a:r>
          </a:p>
          <a:p>
            <a:pPr lvl="0"/>
            <a:r>
              <a:rPr lang="de-DE" altLang="en-US" sz="3200" dirty="0">
                <a:latin typeface="+mn-lt"/>
              </a:rPr>
              <a:t>Li, Judy. X.</a:t>
            </a:r>
            <a:r>
              <a:rPr lang="de-DE" altLang="en-US" sz="3200" baseline="30000" dirty="0">
                <a:latin typeface="+mn-lt"/>
              </a:rPr>
              <a:t>1,2,4</a:t>
            </a:r>
            <a:r>
              <a:rPr lang="de-DE" altLang="en-US" sz="3200" dirty="0">
                <a:latin typeface="+mn-lt"/>
              </a:rPr>
              <a:t>, </a:t>
            </a:r>
            <a:r>
              <a:rPr lang="de-DE" altLang="en-US" sz="3200" dirty="0" err="1">
                <a:latin typeface="+mn-lt"/>
              </a:rPr>
              <a:t>Jeganathan</a:t>
            </a:r>
            <a:r>
              <a:rPr lang="de-DE" altLang="en-US" sz="3200" dirty="0">
                <a:latin typeface="+mn-lt"/>
              </a:rPr>
              <a:t>, Jayson </a:t>
            </a:r>
            <a:r>
              <a:rPr lang="de-DE" altLang="en-US" sz="3200" baseline="30000" dirty="0">
                <a:latin typeface="+mn-lt"/>
              </a:rPr>
              <a:t>1</a:t>
            </a:r>
            <a:r>
              <a:rPr lang="de-DE" altLang="en-US" sz="3200" dirty="0">
                <a:latin typeface="+mn-lt"/>
              </a:rPr>
              <a:t>, </a:t>
            </a:r>
            <a:r>
              <a:rPr lang="de-DE" altLang="en-US" sz="3200" dirty="0" err="1">
                <a:latin typeface="+mn-lt"/>
              </a:rPr>
              <a:t>Sonkusare</a:t>
            </a:r>
            <a:r>
              <a:rPr lang="de-DE" altLang="en-US" sz="3200" dirty="0">
                <a:latin typeface="+mn-lt"/>
              </a:rPr>
              <a:t>, </a:t>
            </a:r>
            <a:r>
              <a:rPr lang="de-DE" altLang="en-US" sz="3200" dirty="0" err="1">
                <a:latin typeface="+mn-lt"/>
              </a:rPr>
              <a:t>Saurabh</a:t>
            </a:r>
            <a:r>
              <a:rPr lang="de-DE" altLang="en-US" sz="3200" dirty="0">
                <a:latin typeface="+mn-lt"/>
              </a:rPr>
              <a:t> </a:t>
            </a:r>
            <a:r>
              <a:rPr lang="de-DE" altLang="en-US" sz="3200" baseline="30000" dirty="0">
                <a:latin typeface="+mn-lt"/>
              </a:rPr>
              <a:t>2</a:t>
            </a:r>
            <a:r>
              <a:rPr lang="de-DE" altLang="en-US" sz="3200" dirty="0">
                <a:latin typeface="+mn-lt"/>
              </a:rPr>
              <a:t>, Paton, Bryan </a:t>
            </a:r>
            <a:r>
              <a:rPr lang="de-DE" altLang="en-US" sz="3200" baseline="30000" dirty="0">
                <a:latin typeface="+mn-lt"/>
              </a:rPr>
              <a:t>3,4,5</a:t>
            </a:r>
            <a:r>
              <a:rPr lang="de-DE" altLang="en-US" sz="3200" dirty="0">
                <a:latin typeface="+mn-lt"/>
              </a:rPr>
              <a:t>, </a:t>
            </a:r>
            <a:r>
              <a:rPr lang="de-DE" altLang="en-US" sz="3200" dirty="0" err="1">
                <a:latin typeface="+mn-lt"/>
              </a:rPr>
              <a:t>Luchow</a:t>
            </a:r>
            <a:r>
              <a:rPr lang="de-DE" altLang="en-US" sz="3200" dirty="0">
                <a:latin typeface="+mn-lt"/>
              </a:rPr>
              <a:t>, </a:t>
            </a:r>
            <a:r>
              <a:rPr lang="de-DE" altLang="en-US" sz="3200" dirty="0" err="1">
                <a:latin typeface="+mn-lt"/>
              </a:rPr>
              <a:t>Shiami</a:t>
            </a:r>
            <a:r>
              <a:rPr lang="de-DE" altLang="en-US" sz="3200" dirty="0">
                <a:latin typeface="+mn-lt"/>
              </a:rPr>
              <a:t> </a:t>
            </a:r>
            <a:r>
              <a:rPr lang="de-DE" altLang="en-US" sz="3200" baseline="30000" dirty="0">
                <a:latin typeface="+mn-lt"/>
              </a:rPr>
              <a:t>4</a:t>
            </a:r>
            <a:r>
              <a:rPr lang="de-DE" altLang="en-US" sz="3200" dirty="0">
                <a:latin typeface="+mn-lt"/>
              </a:rPr>
              <a:t>, </a:t>
            </a:r>
            <a:r>
              <a:rPr lang="de-DE" altLang="en-US" sz="3200" dirty="0" err="1">
                <a:latin typeface="+mn-lt"/>
              </a:rPr>
              <a:t>Breakspear</a:t>
            </a:r>
            <a:r>
              <a:rPr lang="de-DE" altLang="en-US" sz="3200" dirty="0">
                <a:latin typeface="+mn-lt"/>
              </a:rPr>
              <a:t>, Michael </a:t>
            </a:r>
            <a:r>
              <a:rPr lang="de-DE" altLang="en-US" sz="3200" baseline="30000" dirty="0">
                <a:latin typeface="+mn-lt"/>
              </a:rPr>
              <a:t>3,4</a:t>
            </a:r>
            <a:r>
              <a:rPr lang="de-DE" altLang="en-US" sz="3200" dirty="0">
                <a:latin typeface="+mn-lt"/>
              </a:rPr>
              <a:t>, Wellstein, Katharina .V.</a:t>
            </a:r>
            <a:r>
              <a:rPr lang="de-DE" altLang="en-US" sz="3200" baseline="30000" dirty="0">
                <a:latin typeface="+mn-lt"/>
              </a:rPr>
              <a:t>3,4</a:t>
            </a:r>
          </a:p>
          <a:p>
            <a:pPr lvl="0"/>
            <a:endParaRPr lang="de-DE" altLang="en-US" sz="1800" dirty="0">
              <a:latin typeface="+mn-lt"/>
            </a:endParaRPr>
          </a:p>
          <a:p>
            <a:pPr lvl="0"/>
            <a:r>
              <a:rPr lang="en-US" altLang="en-US" sz="1800" baseline="30000" dirty="0">
                <a:latin typeface="+mn-lt"/>
              </a:rPr>
              <a:t>1 </a:t>
            </a:r>
            <a:r>
              <a:rPr lang="en-US" altLang="en-US" sz="1800" dirty="0">
                <a:latin typeface="+mn-lt"/>
              </a:rPr>
              <a:t>John Hunter Hospital, Hunter New England Local Health District, Australia</a:t>
            </a:r>
            <a:r>
              <a:rPr lang="de-DE" altLang="en-US" sz="1800" dirty="0">
                <a:latin typeface="+mn-lt"/>
              </a:rPr>
              <a:t>, </a:t>
            </a:r>
            <a:r>
              <a:rPr lang="en-US" altLang="en-US" sz="1800" baseline="30000" dirty="0">
                <a:latin typeface="+mn-lt"/>
              </a:rPr>
              <a:t>2</a:t>
            </a:r>
            <a:r>
              <a:rPr lang="en-US" altLang="en-US" sz="1800" dirty="0">
                <a:latin typeface="+mn-lt"/>
              </a:rPr>
              <a:t> University of Sydney, Sydney, Australia</a:t>
            </a:r>
            <a:r>
              <a:rPr lang="de-DE" altLang="en-US" sz="1800" dirty="0">
                <a:latin typeface="+mn-lt"/>
              </a:rPr>
              <a:t>, </a:t>
            </a:r>
            <a:r>
              <a:rPr lang="en-US" altLang="en-US" sz="1800" baseline="30000" dirty="0">
                <a:latin typeface="+mn-lt"/>
              </a:rPr>
              <a:t>3</a:t>
            </a:r>
            <a:r>
              <a:rPr lang="en-US" altLang="en-US" sz="1800" dirty="0">
                <a:latin typeface="+mn-lt"/>
              </a:rPr>
              <a:t> University of Newcastle, Newcastle, Australia</a:t>
            </a:r>
            <a:r>
              <a:rPr lang="de-DE" altLang="en-US" sz="1800" dirty="0">
                <a:latin typeface="+mn-lt"/>
              </a:rPr>
              <a:t>, </a:t>
            </a:r>
            <a:r>
              <a:rPr lang="en-US" altLang="en-US" sz="1800" baseline="30000" dirty="0">
                <a:latin typeface="+mn-lt"/>
              </a:rPr>
              <a:t>4</a:t>
            </a:r>
            <a:r>
              <a:rPr lang="en-US" altLang="en-US" sz="1800" dirty="0">
                <a:latin typeface="+mn-lt"/>
              </a:rPr>
              <a:t> Hunter Medical Research Institute, Newcastle, Australia</a:t>
            </a:r>
            <a:r>
              <a:rPr lang="de-DE" altLang="en-US" sz="1800" dirty="0">
                <a:latin typeface="+mn-lt"/>
              </a:rPr>
              <a:t>, </a:t>
            </a:r>
            <a:r>
              <a:rPr lang="en-US" altLang="en-US" sz="1800" baseline="30000" dirty="0">
                <a:latin typeface="+mn-lt"/>
              </a:rPr>
              <a:t>5</a:t>
            </a:r>
            <a:r>
              <a:rPr lang="en-US" altLang="en-US" sz="1800" dirty="0">
                <a:latin typeface="+mn-lt"/>
              </a:rPr>
              <a:t>  Mark Hughes Foundation Centre for Brain Cancer Research, University of Newcastle, NSW, 2308, Australia.</a:t>
            </a:r>
            <a:endParaRPr lang="de-DE" altLang="en-US" sz="9600" dirty="0"/>
          </a:p>
        </p:txBody>
      </p:sp>
      <p:sp>
        <p:nvSpPr>
          <p:cNvPr id="26" name="TextBox 25">
            <a:extLst>
              <a:ext uri="{FF2B5EF4-FFF2-40B4-BE49-F238E27FC236}">
                <a16:creationId xmlns:a16="http://schemas.microsoft.com/office/drawing/2014/main" id="{42305296-3ACB-7773-4AC6-CE158E1B15E8}"/>
              </a:ext>
            </a:extLst>
          </p:cNvPr>
          <p:cNvSpPr txBox="1"/>
          <p:nvPr/>
        </p:nvSpPr>
        <p:spPr>
          <a:xfrm>
            <a:off x="1052737" y="11414427"/>
            <a:ext cx="13503104" cy="2308324"/>
          </a:xfrm>
          <a:prstGeom prst="rect">
            <a:avLst/>
          </a:prstGeom>
          <a:noFill/>
        </p:spPr>
        <p:txBody>
          <a:bodyPr wrap="square" rtlCol="0">
            <a:spAutoFit/>
          </a:bodyPr>
          <a:lstStyle/>
          <a:p>
            <a:pPr algn="just"/>
            <a:r>
              <a:rPr lang="en-US" b="1" dirty="0"/>
              <a:t>RESULTS</a:t>
            </a:r>
          </a:p>
          <a:p>
            <a:pPr algn="just"/>
            <a:endParaRPr lang="en-US" dirty="0"/>
          </a:p>
          <a:p>
            <a:pPr algn="just"/>
            <a:r>
              <a:rPr lang="en-US" dirty="0"/>
              <a:t>We graphed the expression of HMM states during video-viewing below. We found that states 4 and 5 were statistically significant on t tests, but were not significant after FDR. CC spent more time in State 4 (</a:t>
            </a:r>
            <a:r>
              <a:rPr lang="en-US" i="1" dirty="0"/>
              <a:t>t stat = -2.688, CI -0.044, -0.006</a:t>
            </a:r>
            <a:r>
              <a:rPr lang="en-US" dirty="0"/>
              <a:t>) whilst HC spent more time in State 5 (</a:t>
            </a:r>
            <a:r>
              <a:rPr lang="en-US" i="1" dirty="0"/>
              <a:t>t stat = 2.225, CI 0.001, 0.0204</a:t>
            </a:r>
            <a:r>
              <a:rPr lang="en-US" dirty="0"/>
              <a:t>). Of note, transition probabilities were equivalent for all states.</a:t>
            </a:r>
          </a:p>
        </p:txBody>
      </p:sp>
      <p:sp>
        <p:nvSpPr>
          <p:cNvPr id="27" name="TextBox 26">
            <a:extLst>
              <a:ext uri="{FF2B5EF4-FFF2-40B4-BE49-F238E27FC236}">
                <a16:creationId xmlns:a16="http://schemas.microsoft.com/office/drawing/2014/main" id="{8693ED6D-8EAB-C39B-76A1-105D59CF4AC0}"/>
              </a:ext>
            </a:extLst>
          </p:cNvPr>
          <p:cNvSpPr txBox="1"/>
          <p:nvPr/>
        </p:nvSpPr>
        <p:spPr>
          <a:xfrm>
            <a:off x="999093" y="35644800"/>
            <a:ext cx="13556748" cy="6370975"/>
          </a:xfrm>
          <a:prstGeom prst="rect">
            <a:avLst/>
          </a:prstGeom>
          <a:noFill/>
        </p:spPr>
        <p:txBody>
          <a:bodyPr wrap="square" rtlCol="0">
            <a:spAutoFit/>
          </a:bodyPr>
          <a:lstStyle/>
          <a:p>
            <a:r>
              <a:rPr lang="en-US" b="1" dirty="0"/>
              <a:t>CONCLUSION</a:t>
            </a:r>
          </a:p>
          <a:p>
            <a:endParaRPr lang="en-US" dirty="0"/>
          </a:p>
          <a:p>
            <a:pPr algn="just"/>
            <a:r>
              <a:rPr lang="en-US" dirty="0"/>
              <a:t>Studying differences in occupied brain states during an ecologically valid emotional stimulus offers novel insights into the disease. These findings will shed light on new targets for ongoing investigation and treatment formulation.</a:t>
            </a:r>
            <a:r>
              <a:rPr lang="en-AU" dirty="0">
                <a:effectLst/>
              </a:rPr>
              <a:t> </a:t>
            </a:r>
          </a:p>
          <a:p>
            <a:pPr algn="just"/>
            <a:endParaRPr lang="en-US" dirty="0"/>
          </a:p>
          <a:p>
            <a:pPr algn="just"/>
            <a:r>
              <a:rPr lang="en-US" dirty="0"/>
              <a:t>In our first preliminary analysis, we found promising indications of differences in functional connectivity during video-viewing. Those with  These findings did not pass a false discovery rate correction.</a:t>
            </a:r>
          </a:p>
          <a:p>
            <a:pPr algn="just"/>
            <a:endParaRPr lang="en-US" dirty="0"/>
          </a:p>
          <a:p>
            <a:pPr algn="just"/>
            <a:r>
              <a:rPr lang="en-US" dirty="0"/>
              <a:t>Additionally, our current model does not show any difference in transition probabilities across states. On a conceptual level, this finding is erroneous and points to potential hidden issues in our modelling process.</a:t>
            </a:r>
          </a:p>
          <a:p>
            <a:pPr algn="just"/>
            <a:endParaRPr lang="en-US" dirty="0"/>
          </a:p>
          <a:p>
            <a:pPr algn="just"/>
            <a:r>
              <a:rPr lang="en-AU" dirty="0"/>
              <a:t>Further work needs to be conducted to investigate the validity of our preliminary findings. We will revisit our parameters underlying the HMM-MAR, and continue to analyse other outputs (heart rate, switching rate) in correlation with clinical scoring (PANSS).</a:t>
            </a:r>
          </a:p>
        </p:txBody>
      </p:sp>
      <p:sp>
        <p:nvSpPr>
          <p:cNvPr id="28" name="TextBox 27">
            <a:extLst>
              <a:ext uri="{FF2B5EF4-FFF2-40B4-BE49-F238E27FC236}">
                <a16:creationId xmlns:a16="http://schemas.microsoft.com/office/drawing/2014/main" id="{14F5C74F-A626-32DF-BB0B-DE33DA450F4A}"/>
              </a:ext>
            </a:extLst>
          </p:cNvPr>
          <p:cNvSpPr txBox="1"/>
          <p:nvPr/>
        </p:nvSpPr>
        <p:spPr>
          <a:xfrm>
            <a:off x="16029141" y="38545292"/>
            <a:ext cx="12300612" cy="3754874"/>
          </a:xfrm>
          <a:prstGeom prst="rect">
            <a:avLst/>
          </a:prstGeom>
          <a:noFill/>
        </p:spPr>
        <p:txBody>
          <a:bodyPr wrap="square" rtlCol="0">
            <a:spAutoFit/>
          </a:bodyPr>
          <a:lstStyle/>
          <a:p>
            <a:r>
              <a:rPr lang="en-US" b="1" dirty="0"/>
              <a:t>REFERENCES</a:t>
            </a:r>
          </a:p>
          <a:p>
            <a:endParaRPr lang="en-US" sz="1000" b="1" dirty="0"/>
          </a:p>
          <a:p>
            <a:pPr algn="just"/>
            <a:r>
              <a:rPr lang="en-AU" sz="1200" dirty="0"/>
              <a:t>1.	Correll, C.U. and N.R. Schooler, </a:t>
            </a:r>
            <a:r>
              <a:rPr lang="en-AU" sz="1200" i="1" dirty="0"/>
              <a:t>Negative symptoms in schizophrenia: a review and clinical guide for recognition, assessment, and treatment.</a:t>
            </a:r>
            <a:r>
              <a:rPr lang="en-AU" sz="1200" dirty="0"/>
              <a:t> Neuropsychiatric 	disease and treatment, 2020: p. 519 534.</a:t>
            </a:r>
          </a:p>
          <a:p>
            <a:pPr algn="just"/>
            <a:r>
              <a:rPr lang="en-AU" sz="1200" dirty="0"/>
              <a:t>2.	Yao, B. and K. Thakkar, </a:t>
            </a:r>
            <a:r>
              <a:rPr lang="en-AU" sz="1200" i="1" dirty="0"/>
              <a:t>Interoception abnormalities in schizophrenia: A review of preliminary evidence and an integration with Bayesian accounts of psychosis.</a:t>
            </a:r>
            <a:r>
              <a:rPr lang="en-AU" sz="1200" dirty="0"/>
              <a:t> 	Neuroscience &amp; Biobehavioral Reviews, 2022. </a:t>
            </a:r>
            <a:r>
              <a:rPr lang="en-AU" sz="1200" b="1" dirty="0"/>
              <a:t>132</a:t>
            </a:r>
            <a:r>
              <a:rPr lang="en-AU" sz="1200" dirty="0"/>
              <a:t>: p. 757-773.</a:t>
            </a:r>
          </a:p>
          <a:p>
            <a:pPr algn="just"/>
            <a:r>
              <a:rPr lang="en-AU" sz="1200" dirty="0"/>
              <a:t>3.	Wylie, K.P. and J.R. Tregellas, </a:t>
            </a:r>
            <a:r>
              <a:rPr lang="en-AU" sz="1200" i="1" dirty="0"/>
              <a:t>The role of the insula in schizophrenia.</a:t>
            </a:r>
            <a:r>
              <a:rPr lang="en-AU" sz="1200" dirty="0"/>
              <a:t> Schizophrenia research, 2010. </a:t>
            </a:r>
            <a:r>
              <a:rPr lang="en-AU" sz="1200" b="1" dirty="0"/>
              <a:t>123</a:t>
            </a:r>
            <a:r>
              <a:rPr lang="en-AU" sz="1200" dirty="0"/>
              <a:t>(2-3): p. 93-104.</a:t>
            </a:r>
          </a:p>
          <a:p>
            <a:pPr algn="just"/>
            <a:r>
              <a:rPr lang="en-AU" sz="1200" dirty="0"/>
              <a:t>4.	Finn, E.S. and P.A. </a:t>
            </a:r>
            <a:r>
              <a:rPr lang="en-AU" sz="1200" dirty="0" err="1"/>
              <a:t>Bandettini</a:t>
            </a:r>
            <a:r>
              <a:rPr lang="en-AU" sz="1200" dirty="0"/>
              <a:t>, </a:t>
            </a:r>
            <a:r>
              <a:rPr lang="en-AU" sz="1200" i="1" dirty="0"/>
              <a:t>Movie-watching outperforms rest for functional connectivity-based prediction of </a:t>
            </a:r>
            <a:r>
              <a:rPr lang="en-AU" sz="1200" i="1" dirty="0" err="1"/>
              <a:t>behavior</a:t>
            </a:r>
            <a:r>
              <a:rPr lang="en-AU" sz="1200" i="1" dirty="0"/>
              <a:t>.</a:t>
            </a:r>
            <a:r>
              <a:rPr lang="en-AU" sz="1200" dirty="0"/>
              <a:t> </a:t>
            </a:r>
            <a:r>
              <a:rPr lang="en-AU" sz="1200" dirty="0" err="1"/>
              <a:t>NeuroImage</a:t>
            </a:r>
            <a:r>
              <a:rPr lang="en-AU" sz="1200" dirty="0"/>
              <a:t>, 2021. </a:t>
            </a:r>
            <a:r>
              <a:rPr lang="en-AU" sz="1200" b="1" dirty="0"/>
              <a:t>235</a:t>
            </a:r>
            <a:r>
              <a:rPr lang="en-AU" sz="1200" dirty="0"/>
              <a:t>: p. 117963.</a:t>
            </a:r>
          </a:p>
          <a:p>
            <a:pPr algn="just"/>
            <a:r>
              <a:rPr lang="en-AU" sz="1200" dirty="0"/>
              <a:t>5.	</a:t>
            </a:r>
            <a:r>
              <a:rPr lang="en-AU" sz="1200" dirty="0" err="1"/>
              <a:t>Sonkusare</a:t>
            </a:r>
            <a:r>
              <a:rPr lang="en-AU" sz="1200" dirty="0"/>
              <a:t>, S., M. Breakspear, and C. Guo, </a:t>
            </a:r>
            <a:r>
              <a:rPr lang="en-AU" sz="1200" i="1" dirty="0"/>
              <a:t>Naturalistic Stimuli in Neuroscience: Critically Acclaimed.</a:t>
            </a:r>
            <a:r>
              <a:rPr lang="en-AU" sz="1200" dirty="0"/>
              <a:t> Trends in Cognitive Sciences, 2019. </a:t>
            </a:r>
            <a:r>
              <a:rPr lang="en-AU" sz="1200" b="1" dirty="0"/>
              <a:t>23</a:t>
            </a:r>
            <a:r>
              <a:rPr lang="en-AU" sz="1200" dirty="0"/>
              <a:t>(8): p. 699-714.</a:t>
            </a:r>
          </a:p>
          <a:p>
            <a:pPr algn="just"/>
            <a:r>
              <a:rPr lang="en-AU" sz="1200" dirty="0"/>
              <a:t>6.	Li, X., et al., </a:t>
            </a:r>
            <a:r>
              <a:rPr lang="en-AU" sz="1200" i="1" dirty="0"/>
              <a:t>Decreased intersubject synchrony in dynamic valence ratings of sad movie contents in dysphoric individuals.</a:t>
            </a:r>
            <a:r>
              <a:rPr lang="en-AU" sz="1200" dirty="0"/>
              <a:t> Scientific Reports, 2021. </a:t>
            </a:r>
            <a:r>
              <a:rPr lang="en-AU" sz="1200" b="1" dirty="0"/>
              <a:t>11</a:t>
            </a:r>
            <a:r>
              <a:rPr lang="en-AU" sz="1200" dirty="0"/>
              <a:t>(1): p. 14419.</a:t>
            </a:r>
          </a:p>
          <a:p>
            <a:pPr algn="just"/>
            <a:r>
              <a:rPr lang="en-AU" sz="1200" dirty="0"/>
              <a:t>7.	Tu, P.-C., et al., </a:t>
            </a:r>
            <a:r>
              <a:rPr lang="en-AU" sz="1200" i="1" dirty="0"/>
              <a:t>Reduced synchronized brain activity in schizophrenia during viewing of comedy movies.</a:t>
            </a:r>
            <a:r>
              <a:rPr lang="en-AU" sz="1200" dirty="0"/>
              <a:t> Scientific Reports, 2019. </a:t>
            </a:r>
            <a:r>
              <a:rPr lang="en-AU" sz="1200" b="1" dirty="0"/>
              <a:t>9</a:t>
            </a:r>
            <a:r>
              <a:rPr lang="en-AU" sz="1200" dirty="0"/>
              <a:t>(1): p. 12738.</a:t>
            </a:r>
          </a:p>
          <a:p>
            <a:pPr algn="just"/>
            <a:r>
              <a:rPr lang="en-AU" sz="1200" dirty="0"/>
              <a:t>8.	Ou, J., et al., </a:t>
            </a:r>
            <a:r>
              <a:rPr lang="en-AU" sz="1200" i="1" dirty="0"/>
              <a:t>Characterizing and differentiating brain state dynamics via hidden Markov models.</a:t>
            </a:r>
            <a:r>
              <a:rPr lang="en-AU" sz="1200" dirty="0"/>
              <a:t> Brain topography, 2015. </a:t>
            </a:r>
            <a:r>
              <a:rPr lang="en-AU" sz="1200" b="1" dirty="0"/>
              <a:t>28</a:t>
            </a:r>
            <a:r>
              <a:rPr lang="en-AU" sz="1200" dirty="0"/>
              <a:t>: p. 666-679.</a:t>
            </a:r>
          </a:p>
          <a:p>
            <a:pPr algn="just"/>
            <a:r>
              <a:rPr lang="en-AU" sz="1200" dirty="0"/>
              <a:t>9.	</a:t>
            </a:r>
            <a:r>
              <a:rPr lang="en-AU" sz="1200" dirty="0" err="1"/>
              <a:t>Kottaram</a:t>
            </a:r>
            <a:r>
              <a:rPr lang="en-AU" sz="1200" dirty="0"/>
              <a:t>, A., et al., </a:t>
            </a:r>
            <a:r>
              <a:rPr lang="en-AU" sz="1200" i="1" dirty="0"/>
              <a:t>Brain network dynamics in schizophrenia: Reduced dynamism of the default mode network.</a:t>
            </a:r>
            <a:r>
              <a:rPr lang="en-AU" sz="1200" dirty="0"/>
              <a:t> Human brain mapping, 2019. </a:t>
            </a:r>
            <a:r>
              <a:rPr lang="en-AU" sz="1200" b="1" dirty="0"/>
              <a:t>40</a:t>
            </a:r>
            <a:r>
              <a:rPr lang="en-AU" sz="1200" dirty="0"/>
              <a:t>(7): p. 2212-2228.</a:t>
            </a:r>
          </a:p>
          <a:p>
            <a:pPr marL="228600" indent="-228600" algn="just">
              <a:buAutoNum type="arabicPeriod" startAt="10"/>
            </a:pPr>
            <a:r>
              <a:rPr lang="en-AU" sz="1200" dirty="0"/>
              <a:t>                </a:t>
            </a:r>
            <a:r>
              <a:rPr lang="en-AU" sz="1200" dirty="0" err="1"/>
              <a:t>Mavadati</a:t>
            </a:r>
            <a:r>
              <a:rPr lang="en-AU" sz="1200" dirty="0"/>
              <a:t>, S.M., et al., </a:t>
            </a:r>
            <a:r>
              <a:rPr lang="en-AU" sz="1200" i="1" dirty="0"/>
              <a:t>DISFA: A Spontaneous Facial Action Intensity Database.</a:t>
            </a:r>
            <a:r>
              <a:rPr lang="en-AU" sz="1200" dirty="0"/>
              <a:t> IEEE Transactions on Affective Computing, 2013. </a:t>
            </a:r>
            <a:r>
              <a:rPr lang="en-AU" sz="1200" b="1" dirty="0"/>
              <a:t>4</a:t>
            </a:r>
            <a:r>
              <a:rPr lang="en-AU" sz="1200" dirty="0"/>
              <a:t>(2): p. 151-160.</a:t>
            </a:r>
          </a:p>
          <a:p>
            <a:pPr marL="228600" indent="-228600" algn="just">
              <a:buFontTx/>
              <a:buAutoNum type="arabicPeriod" startAt="10"/>
            </a:pPr>
            <a:r>
              <a:rPr lang="en-US" altLang="en-US" sz="1200" dirty="0">
                <a:solidFill>
                  <a:srgbClr val="1B1B1B"/>
                </a:solidFill>
                <a:ea typeface="Roboto Mono Web"/>
              </a:rPr>
              <a:t>                Yeo BT, </a:t>
            </a:r>
            <a:r>
              <a:rPr lang="en-US" altLang="en-US" sz="1200" dirty="0" err="1">
                <a:solidFill>
                  <a:srgbClr val="1B1B1B"/>
                </a:solidFill>
                <a:ea typeface="Roboto Mono Web"/>
              </a:rPr>
              <a:t>Krienen</a:t>
            </a:r>
            <a:r>
              <a:rPr lang="en-US" altLang="en-US" sz="1200" dirty="0">
                <a:solidFill>
                  <a:srgbClr val="1B1B1B"/>
                </a:solidFill>
                <a:ea typeface="Roboto Mono Web"/>
              </a:rPr>
              <a:t> FM, </a:t>
            </a:r>
            <a:r>
              <a:rPr lang="en-US" altLang="en-US" sz="1200" dirty="0" err="1">
                <a:solidFill>
                  <a:srgbClr val="1B1B1B"/>
                </a:solidFill>
                <a:ea typeface="Roboto Mono Web"/>
              </a:rPr>
              <a:t>Sepulcre</a:t>
            </a:r>
            <a:r>
              <a:rPr lang="en-US" altLang="en-US" sz="1200" dirty="0">
                <a:solidFill>
                  <a:srgbClr val="1B1B1B"/>
                </a:solidFill>
                <a:ea typeface="Roboto Mono Web"/>
              </a:rPr>
              <a:t> J, </a:t>
            </a:r>
            <a:r>
              <a:rPr lang="en-US" altLang="en-US" sz="1200" dirty="0" err="1">
                <a:solidFill>
                  <a:srgbClr val="1B1B1B"/>
                </a:solidFill>
                <a:ea typeface="Roboto Mono Web"/>
              </a:rPr>
              <a:t>Sabuncu</a:t>
            </a:r>
            <a:r>
              <a:rPr lang="en-US" altLang="en-US" sz="1200" dirty="0">
                <a:solidFill>
                  <a:srgbClr val="1B1B1B"/>
                </a:solidFill>
                <a:ea typeface="Roboto Mono Web"/>
              </a:rPr>
              <a:t> MR, Lashkari D, Hollinshead M, Roffman JL, Smoller JW, </a:t>
            </a:r>
            <a:r>
              <a:rPr lang="en-US" altLang="en-US" sz="1200" dirty="0" err="1">
                <a:solidFill>
                  <a:srgbClr val="1B1B1B"/>
                </a:solidFill>
                <a:ea typeface="Roboto Mono Web"/>
              </a:rPr>
              <a:t>Zöllei</a:t>
            </a:r>
            <a:r>
              <a:rPr lang="en-US" altLang="en-US" sz="1200" dirty="0">
                <a:solidFill>
                  <a:srgbClr val="1B1B1B"/>
                </a:solidFill>
                <a:ea typeface="Roboto Mono Web"/>
              </a:rPr>
              <a:t> L, Polimeni JR, Fischl B, Liu H, Buckner RL. The 	organization of the human cerebral cortex estimated by intrinsic functional connectivity. J </a:t>
            </a:r>
            <a:r>
              <a:rPr lang="en-US" altLang="en-US" sz="1200" dirty="0" err="1">
                <a:solidFill>
                  <a:srgbClr val="1B1B1B"/>
                </a:solidFill>
                <a:ea typeface="Roboto Mono Web"/>
              </a:rPr>
              <a:t>Neurophysiol</a:t>
            </a:r>
            <a:r>
              <a:rPr lang="en-US" altLang="en-US" sz="1200" dirty="0">
                <a:solidFill>
                  <a:srgbClr val="1B1B1B"/>
                </a:solidFill>
                <a:ea typeface="Roboto Mono Web"/>
              </a:rPr>
              <a:t>. 2011. </a:t>
            </a:r>
            <a:r>
              <a:rPr lang="en-US" altLang="en-US" sz="1200" b="1" dirty="0">
                <a:solidFill>
                  <a:srgbClr val="1B1B1B"/>
                </a:solidFill>
                <a:ea typeface="Roboto Mono Web"/>
              </a:rPr>
              <a:t>106</a:t>
            </a:r>
            <a:r>
              <a:rPr lang="en-US" altLang="en-US" sz="1200" dirty="0">
                <a:solidFill>
                  <a:srgbClr val="1B1B1B"/>
                </a:solidFill>
                <a:ea typeface="Roboto Mono Web"/>
              </a:rPr>
              <a:t>(3): p. 1125-65.</a:t>
            </a:r>
            <a:endParaRPr lang="en-AU" sz="1200" dirty="0"/>
          </a:p>
          <a:p>
            <a:pPr algn="just"/>
            <a:r>
              <a:rPr lang="en-AU" sz="1200" dirty="0"/>
              <a:t>12.	Vidaurre, D., et al., </a:t>
            </a:r>
            <a:r>
              <a:rPr lang="en-AU" sz="1200" i="1" dirty="0"/>
              <a:t>Spectrally resolved fast transient brain states in electrophysiological data.</a:t>
            </a:r>
            <a:r>
              <a:rPr lang="en-AU" sz="1200" dirty="0"/>
              <a:t> </a:t>
            </a:r>
            <a:r>
              <a:rPr lang="en-AU" sz="1200" dirty="0" err="1"/>
              <a:t>NeuroImage</a:t>
            </a:r>
            <a:r>
              <a:rPr lang="en-AU" sz="1200" dirty="0"/>
              <a:t>, 2016. </a:t>
            </a:r>
            <a:r>
              <a:rPr lang="en-AU" sz="1200" b="1" dirty="0"/>
              <a:t>126</a:t>
            </a:r>
            <a:r>
              <a:rPr lang="en-AU" sz="1200" dirty="0"/>
              <a:t>: p. 81-95.</a:t>
            </a:r>
          </a:p>
          <a:p>
            <a:endParaRPr lang="en-US" b="1" dirty="0"/>
          </a:p>
        </p:txBody>
      </p:sp>
      <p:graphicFrame>
        <p:nvGraphicFramePr>
          <p:cNvPr id="29" name="Table 28">
            <a:extLst>
              <a:ext uri="{FF2B5EF4-FFF2-40B4-BE49-F238E27FC236}">
                <a16:creationId xmlns:a16="http://schemas.microsoft.com/office/drawing/2014/main" id="{ECF3D09F-302C-2A32-69C7-38B4A460C197}"/>
              </a:ext>
            </a:extLst>
          </p:cNvPr>
          <p:cNvGraphicFramePr>
            <a:graphicFrameLocks noGrp="1"/>
          </p:cNvGraphicFramePr>
          <p:nvPr>
            <p:extLst>
              <p:ext uri="{D42A27DB-BD31-4B8C-83A1-F6EECF244321}">
                <p14:modId xmlns:p14="http://schemas.microsoft.com/office/powerpoint/2010/main" val="2727932205"/>
              </p:ext>
            </p:extLst>
          </p:nvPr>
        </p:nvGraphicFramePr>
        <p:xfrm>
          <a:off x="1028858" y="23585454"/>
          <a:ext cx="27558700" cy="2286000"/>
        </p:xfrm>
        <a:graphic>
          <a:graphicData uri="http://schemas.openxmlformats.org/drawingml/2006/table">
            <a:tbl>
              <a:tblPr firstCol="1" bandRow="1">
                <a:tableStyleId>{8EC20E35-A176-4012-BC5E-935CFFF8708E}</a:tableStyleId>
              </a:tblPr>
              <a:tblGrid>
                <a:gridCol w="2755870">
                  <a:extLst>
                    <a:ext uri="{9D8B030D-6E8A-4147-A177-3AD203B41FA5}">
                      <a16:colId xmlns:a16="http://schemas.microsoft.com/office/drawing/2014/main" val="2760199544"/>
                    </a:ext>
                  </a:extLst>
                </a:gridCol>
                <a:gridCol w="2755870">
                  <a:extLst>
                    <a:ext uri="{9D8B030D-6E8A-4147-A177-3AD203B41FA5}">
                      <a16:colId xmlns:a16="http://schemas.microsoft.com/office/drawing/2014/main" val="48668993"/>
                    </a:ext>
                  </a:extLst>
                </a:gridCol>
                <a:gridCol w="2755870">
                  <a:extLst>
                    <a:ext uri="{9D8B030D-6E8A-4147-A177-3AD203B41FA5}">
                      <a16:colId xmlns:a16="http://schemas.microsoft.com/office/drawing/2014/main" val="2275633060"/>
                    </a:ext>
                  </a:extLst>
                </a:gridCol>
                <a:gridCol w="2755870">
                  <a:extLst>
                    <a:ext uri="{9D8B030D-6E8A-4147-A177-3AD203B41FA5}">
                      <a16:colId xmlns:a16="http://schemas.microsoft.com/office/drawing/2014/main" val="2559365229"/>
                    </a:ext>
                  </a:extLst>
                </a:gridCol>
                <a:gridCol w="2755870">
                  <a:extLst>
                    <a:ext uri="{9D8B030D-6E8A-4147-A177-3AD203B41FA5}">
                      <a16:colId xmlns:a16="http://schemas.microsoft.com/office/drawing/2014/main" val="2837821901"/>
                    </a:ext>
                  </a:extLst>
                </a:gridCol>
                <a:gridCol w="2755870">
                  <a:extLst>
                    <a:ext uri="{9D8B030D-6E8A-4147-A177-3AD203B41FA5}">
                      <a16:colId xmlns:a16="http://schemas.microsoft.com/office/drawing/2014/main" val="2561314647"/>
                    </a:ext>
                  </a:extLst>
                </a:gridCol>
                <a:gridCol w="2755870">
                  <a:extLst>
                    <a:ext uri="{9D8B030D-6E8A-4147-A177-3AD203B41FA5}">
                      <a16:colId xmlns:a16="http://schemas.microsoft.com/office/drawing/2014/main" val="3013146904"/>
                    </a:ext>
                  </a:extLst>
                </a:gridCol>
                <a:gridCol w="2755870">
                  <a:extLst>
                    <a:ext uri="{9D8B030D-6E8A-4147-A177-3AD203B41FA5}">
                      <a16:colId xmlns:a16="http://schemas.microsoft.com/office/drawing/2014/main" val="4097784059"/>
                    </a:ext>
                  </a:extLst>
                </a:gridCol>
                <a:gridCol w="2755870">
                  <a:extLst>
                    <a:ext uri="{9D8B030D-6E8A-4147-A177-3AD203B41FA5}">
                      <a16:colId xmlns:a16="http://schemas.microsoft.com/office/drawing/2014/main" val="210142211"/>
                    </a:ext>
                  </a:extLst>
                </a:gridCol>
                <a:gridCol w="2755870">
                  <a:extLst>
                    <a:ext uri="{9D8B030D-6E8A-4147-A177-3AD203B41FA5}">
                      <a16:colId xmlns:a16="http://schemas.microsoft.com/office/drawing/2014/main" val="2936510662"/>
                    </a:ext>
                  </a:extLst>
                </a:gridCol>
              </a:tblGrid>
              <a:tr h="0">
                <a:tc>
                  <a:txBody>
                    <a:bodyPr/>
                    <a:lstStyle/>
                    <a:p>
                      <a:r>
                        <a:rPr lang="en-US" sz="2000" dirty="0">
                          <a:solidFill>
                            <a:schemeClr val="bg1"/>
                          </a:solidFill>
                        </a:rPr>
                        <a:t>Seg #</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1</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2</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3</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4</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5</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6</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7</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8</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9</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10386141"/>
                  </a:ext>
                </a:extLst>
              </a:tr>
              <a:tr h="237529">
                <a:tc>
                  <a:txBody>
                    <a:bodyPr/>
                    <a:lstStyle/>
                    <a:p>
                      <a:r>
                        <a:rPr lang="en-US" sz="2000" dirty="0">
                          <a:solidFill>
                            <a:schemeClr val="bg1"/>
                          </a:solidFill>
                        </a:rPr>
                        <a:t>Start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00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15</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130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146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184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46148226"/>
                  </a:ext>
                </a:extLst>
              </a:tr>
              <a:tr h="212694">
                <a:tc>
                  <a:txBody>
                    <a:bodyPr/>
                    <a:lstStyle/>
                    <a:p>
                      <a:r>
                        <a:rPr lang="en-US" sz="2000" dirty="0">
                          <a:solidFill>
                            <a:schemeClr val="bg1"/>
                          </a:solidFill>
                        </a:rPr>
                        <a:t>Length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33</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52132930"/>
                  </a:ext>
                </a:extLst>
              </a:tr>
              <a:tr h="372215">
                <a:tc>
                  <a:txBody>
                    <a:bodyPr/>
                    <a:lstStyle/>
                    <a:p>
                      <a:r>
                        <a:rPr lang="en-US" sz="2000" dirty="0">
                          <a:solidFill>
                            <a:schemeClr val="bg1"/>
                          </a:solidFill>
                        </a:rPr>
                        <a:t>Target Emotion</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Fear</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38433128"/>
                  </a:ext>
                </a:extLst>
              </a:tr>
              <a:tr h="6772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 of time target emotion occurred</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2000" dirty="0">
                          <a:solidFill>
                            <a:schemeClr val="tx1"/>
                          </a:solidFill>
                        </a:rPr>
                        <a:t>67.3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52.8</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9.2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23.6</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5.5</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11.7</a:t>
                      </a:r>
                    </a:p>
                  </a:txBody>
                  <a:tcP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2231954"/>
                  </a:ext>
                </a:extLst>
              </a:tr>
            </a:tbl>
          </a:graphicData>
        </a:graphic>
      </p:graphicFrame>
      <p:sp>
        <p:nvSpPr>
          <p:cNvPr id="34" name="Rectangle 5">
            <a:extLst>
              <a:ext uri="{FF2B5EF4-FFF2-40B4-BE49-F238E27FC236}">
                <a16:creationId xmlns:a16="http://schemas.microsoft.com/office/drawing/2014/main" id="{E1F7E4AD-D580-FC67-0873-97A3F75010A1}"/>
              </a:ext>
            </a:extLst>
          </p:cNvPr>
          <p:cNvSpPr>
            <a:spLocks noChangeArrowheads="1"/>
          </p:cNvSpPr>
          <p:nvPr/>
        </p:nvSpPr>
        <p:spPr bwMode="auto">
          <a:xfrm>
            <a:off x="1280221" y="7062717"/>
            <a:ext cx="114320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9">
            <a:extLst>
              <a:ext uri="{FF2B5EF4-FFF2-40B4-BE49-F238E27FC236}">
                <a16:creationId xmlns:a16="http://schemas.microsoft.com/office/drawing/2014/main" id="{B7A7092E-EA11-BD71-E299-1F2814E52E07}"/>
              </a:ext>
            </a:extLst>
          </p:cNvPr>
          <p:cNvSpPr>
            <a:spLocks noChangeArrowheads="1"/>
          </p:cNvSpPr>
          <p:nvPr/>
        </p:nvSpPr>
        <p:spPr bwMode="auto">
          <a:xfrm>
            <a:off x="1052737" y="4580815"/>
            <a:ext cx="13503104"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b="1" i="0" u="none" strike="noStrike" cap="none" normalizeH="0" baseline="0" noProof="0" dirty="0">
                <a:ln>
                  <a:noFill/>
                </a:ln>
                <a:solidFill>
                  <a:schemeClr val="tx1"/>
                </a:solidFill>
                <a:effectLst/>
                <a:latin typeface="+mn-lt"/>
                <a:cs typeface="Times New Roman" panose="02020603050405020304" pitchFamily="18" charset="0"/>
              </a:rPr>
              <a:t>INTRODUCTION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noProof="0" dirty="0">
              <a:ln>
                <a:noFill/>
              </a:ln>
              <a:solidFill>
                <a:schemeClr val="tx1"/>
              </a:solidFill>
              <a:effectLst/>
              <a:latin typeface="+mn-lt"/>
              <a:cs typeface="Times New Roman" panose="02020603050405020304" pitchFamily="18" charset="0"/>
            </a:endParaRPr>
          </a:p>
          <a:p>
            <a:pPr lvl="0" algn="just"/>
            <a:r>
              <a:rPr lang="en-GB" noProof="0" dirty="0">
                <a:latin typeface="+mn-lt"/>
                <a:cs typeface="Times New Roman" panose="02020603050405020304" pitchFamily="18" charset="0"/>
              </a:rPr>
              <a:t>Emotional processing </a:t>
            </a:r>
            <a:r>
              <a:rPr lang="en-GB" dirty="0">
                <a:latin typeface="+mn-lt"/>
                <a:cs typeface="Times New Roman" panose="02020603050405020304" pitchFamily="18" charset="0"/>
              </a:rPr>
              <a:t>in</a:t>
            </a:r>
            <a:r>
              <a:rPr lang="en-GB" noProof="0" dirty="0">
                <a:latin typeface="+mn-lt"/>
                <a:cs typeface="Times New Roman" panose="02020603050405020304" pitchFamily="18" charset="0"/>
              </a:rPr>
              <a:t> schizophrenia, which is a key feature of negative symptoms </a:t>
            </a:r>
            <a:r>
              <a:rPr lang="en-GB" dirty="0">
                <a:latin typeface="+mn-lt"/>
                <a:cs typeface="Times New Roman" panose="02020603050405020304" pitchFamily="18" charset="0"/>
              </a:rPr>
              <a:t>is </a:t>
            </a:r>
            <a:r>
              <a:rPr lang="en-GB" noProof="0" dirty="0">
                <a:latin typeface="+mn-lt"/>
                <a:cs typeface="Times New Roman" panose="02020603050405020304" pitchFamily="18" charset="0"/>
              </a:rPr>
              <a:t>poorly </a:t>
            </a:r>
            <a:r>
              <a:rPr lang="en-GB" dirty="0">
                <a:latin typeface="+mn-lt"/>
              </a:rPr>
              <a:t>understood while negative symptoms form the majority of burden of disease [1]. There is an unmet need for effective treatments, despite urgent demand. Functional neuroimaging, use of natural stimuli and new connectivity techniques offer a novel way to investigate these symptoms and potentiate treatments. Evidence links negative symptoms to impairment in emotional neurocognitive processes. [2, 3]. </a:t>
            </a:r>
          </a:p>
          <a:p>
            <a:pPr lvl="0" algn="just"/>
            <a:endParaRPr lang="en-GB" dirty="0">
              <a:latin typeface="+mn-lt"/>
            </a:endParaRPr>
          </a:p>
          <a:p>
            <a:pPr lvl="0" algn="just"/>
            <a:r>
              <a:rPr lang="en-GB" dirty="0">
                <a:latin typeface="+mn-lt"/>
              </a:rPr>
              <a:t>Naturalistic stimuli such as video in reduced unexplainable variance and better exposes individual differences between participants [4]. Naturalistic stimuli are closer to real-world experiences, increasing their ecological validity compared to highly-controlled, experimental tasks [5]. They also offer improved test-retest reliability compared to resting state. There are associations between severity of psychopathology and altered emotional processing of movie clips. [6, 7]. </a:t>
            </a:r>
          </a:p>
          <a:p>
            <a:pPr lvl="0" algn="just"/>
            <a:endParaRPr lang="en-GB" dirty="0">
              <a:latin typeface="+mn-lt"/>
            </a:endParaRPr>
          </a:p>
          <a:p>
            <a:pPr lvl="0" algn="just"/>
            <a:r>
              <a:rPr lang="en-GB" dirty="0">
                <a:latin typeface="+mn-lt"/>
              </a:rPr>
              <a:t>Hidden Markov models (HMM) can be used on fMRI data in the context of mental illness found significant differences in functional-connectivity in participants with mental illness [8, 9].</a:t>
            </a:r>
          </a:p>
        </p:txBody>
      </p:sp>
      <p:sp>
        <p:nvSpPr>
          <p:cNvPr id="43" name="TextBox 42">
            <a:extLst>
              <a:ext uri="{FF2B5EF4-FFF2-40B4-BE49-F238E27FC236}">
                <a16:creationId xmlns:a16="http://schemas.microsoft.com/office/drawing/2014/main" id="{BC46AA85-06E2-702C-D558-B92B1F705AB8}"/>
              </a:ext>
            </a:extLst>
          </p:cNvPr>
          <p:cNvSpPr txBox="1"/>
          <p:nvPr/>
        </p:nvSpPr>
        <p:spPr>
          <a:xfrm>
            <a:off x="15667752" y="4525178"/>
            <a:ext cx="12919806" cy="9534661"/>
          </a:xfrm>
          <a:prstGeom prst="rect">
            <a:avLst/>
          </a:prstGeom>
          <a:noFill/>
        </p:spPr>
        <p:txBody>
          <a:bodyPr wrap="square">
            <a:spAutoFit/>
          </a:bodyPr>
          <a:lstStyle/>
          <a:p>
            <a:pPr algn="just">
              <a:lnSpc>
                <a:spcPct val="115000"/>
              </a:lnSpc>
              <a:buNone/>
            </a:pPr>
            <a:r>
              <a:rPr lang="en-AU" b="1" kern="100" dirty="0">
                <a:effectLst/>
                <a:latin typeface="+mn-lt"/>
                <a:ea typeface="Aptos" panose="020B0004020202020204" pitchFamily="34" charset="0"/>
                <a:cs typeface="Times New Roman" panose="02020603050405020304" pitchFamily="18" charset="0"/>
              </a:rPr>
              <a:t>METHODS</a:t>
            </a:r>
          </a:p>
          <a:p>
            <a:pPr algn="just">
              <a:lnSpc>
                <a:spcPct val="115000"/>
              </a:lnSpc>
              <a:buNone/>
            </a:pPr>
            <a:endParaRPr lang="en-AU" sz="2000" kern="100" dirty="0">
              <a:latin typeface="+mn-lt"/>
              <a:ea typeface="Aptos" panose="020B0004020202020204" pitchFamily="34" charset="0"/>
              <a:cs typeface="Times New Roman" panose="02020603050405020304" pitchFamily="18" charset="0"/>
            </a:endParaRPr>
          </a:p>
          <a:p>
            <a:pPr algn="just">
              <a:lnSpc>
                <a:spcPct val="115000"/>
              </a:lnSpc>
              <a:buNone/>
            </a:pPr>
            <a:r>
              <a:rPr lang="en-AU" kern="100" dirty="0">
                <a:effectLst/>
                <a:latin typeface="+mn-lt"/>
                <a:ea typeface="Aptos" panose="020B0004020202020204" pitchFamily="34" charset="0"/>
                <a:cs typeface="Times New Roman" panose="02020603050405020304" pitchFamily="18" charset="0"/>
              </a:rPr>
              <a:t>43 participants with a history of diagnosed psychotic illness (CC) and 37 healthy controls (HC) were recruited for this study. CC participants fulfilled the DSM-5 criteria for broadly defined psychotic disorder (including mood disorders with psychotic features, schizophrenia, schizophreniform disorder, and schizoaffective disorder). CCs were recruited from outpatient mental health clinics in Hunter New England Local Health District in NSW, Australia. </a:t>
            </a:r>
          </a:p>
          <a:p>
            <a:pPr algn="just">
              <a:lnSpc>
                <a:spcPct val="115000"/>
              </a:lnSpc>
              <a:buNone/>
            </a:pPr>
            <a:endParaRPr lang="en-AU" kern="100" dirty="0">
              <a:effectLst/>
              <a:latin typeface="+mn-lt"/>
              <a:ea typeface="Aptos" panose="020B0004020202020204" pitchFamily="34" charset="0"/>
              <a:cs typeface="Times New Roman" panose="02020603050405020304" pitchFamily="18" charset="0"/>
            </a:endParaRPr>
          </a:p>
          <a:p>
            <a:pPr algn="just">
              <a:lnSpc>
                <a:spcPct val="115000"/>
              </a:lnSpc>
              <a:spcAft>
                <a:spcPts val="800"/>
              </a:spcAft>
              <a:buNone/>
            </a:pPr>
            <a:r>
              <a:rPr lang="en-AU" kern="100" dirty="0">
                <a:effectLst/>
                <a:latin typeface="+mn-lt"/>
                <a:ea typeface="DengXian" panose="02010600030101010101" pitchFamily="2" charset="-122"/>
                <a:cs typeface="Times New Roman" panose="02020603050405020304" pitchFamily="18" charset="0"/>
              </a:rPr>
              <a:t>Participants  viewed a 4-minute video stimulus compiled by </a:t>
            </a:r>
            <a:r>
              <a:rPr lang="en-AU" kern="100" dirty="0" err="1">
                <a:effectLst/>
                <a:latin typeface="+mn-lt"/>
                <a:ea typeface="DengXian" panose="02010600030101010101" pitchFamily="2" charset="-122"/>
                <a:cs typeface="Times New Roman" panose="02020603050405020304" pitchFamily="18" charset="0"/>
              </a:rPr>
              <a:t>Mavadati</a:t>
            </a:r>
            <a:r>
              <a:rPr lang="en-AU" kern="100" dirty="0">
                <a:latin typeface="+mn-lt"/>
                <a:ea typeface="DengXian" panose="02010600030101010101" pitchFamily="2" charset="-122"/>
                <a:cs typeface="Times New Roman" panose="02020603050405020304" pitchFamily="18" charset="0"/>
              </a:rPr>
              <a:t> and</a:t>
            </a:r>
            <a:r>
              <a:rPr lang="en-AU" kern="100" dirty="0">
                <a:effectLst/>
                <a:latin typeface="+mn-lt"/>
                <a:ea typeface="DengXian" panose="02010600030101010101" pitchFamily="2" charset="-122"/>
                <a:cs typeface="Times New Roman" panose="02020603050405020304" pitchFamily="18" charset="0"/>
              </a:rPr>
              <a:t> Mahoor [</a:t>
            </a:r>
            <a:r>
              <a:rPr lang="en-AU" kern="100" dirty="0">
                <a:latin typeface="+mn-lt"/>
                <a:ea typeface="DengXian" panose="02010600030101010101" pitchFamily="2" charset="-122"/>
                <a:cs typeface="Times New Roman" panose="02020603050405020304" pitchFamily="18" charset="0"/>
              </a:rPr>
              <a:t>10</a:t>
            </a:r>
            <a:r>
              <a:rPr lang="en-AU" kern="100" dirty="0">
                <a:effectLst/>
                <a:latin typeface="+mn-lt"/>
                <a:ea typeface="DengXian" panose="02010600030101010101" pitchFamily="2" charset="-122"/>
                <a:cs typeface="Times New Roman" panose="02020603050405020304" pitchFamily="18" charset="0"/>
              </a:rPr>
              <a:t>] for the DISFA database. Symptom severity was assessed using the PANSS scale. Functional MRI and heart rate (HR) were recorded during viewing. The fMRI data has previously been </a:t>
            </a:r>
            <a:r>
              <a:rPr lang="en-AU" kern="100" dirty="0" err="1">
                <a:effectLst/>
                <a:latin typeface="+mn-lt"/>
                <a:ea typeface="DengXian" panose="02010600030101010101" pitchFamily="2" charset="-122"/>
                <a:cs typeface="Times New Roman" panose="02020603050405020304" pitchFamily="18" charset="0"/>
              </a:rPr>
              <a:t>preprocessed</a:t>
            </a:r>
            <a:r>
              <a:rPr lang="en-AU" kern="100" dirty="0">
                <a:effectLst/>
                <a:latin typeface="+mn-lt"/>
                <a:ea typeface="DengXian" panose="02010600030101010101" pitchFamily="2" charset="-122"/>
                <a:cs typeface="Times New Roman" panose="02020603050405020304" pitchFamily="18" charset="0"/>
              </a:rPr>
              <a:t> with </a:t>
            </a:r>
            <a:r>
              <a:rPr lang="en-AU" kern="100" dirty="0" err="1">
                <a:effectLst/>
                <a:latin typeface="+mn-lt"/>
                <a:ea typeface="DengXian" panose="02010600030101010101" pitchFamily="2" charset="-122"/>
                <a:cs typeface="Times New Roman" panose="02020603050405020304" pitchFamily="18" charset="0"/>
              </a:rPr>
              <a:t>fmriprep</a:t>
            </a:r>
            <a:r>
              <a:rPr lang="en-AU" kern="100" dirty="0">
                <a:effectLst/>
                <a:latin typeface="+mn-lt"/>
                <a:ea typeface="DengXian" panose="02010600030101010101" pitchFamily="2" charset="-122"/>
                <a:cs typeface="Times New Roman" panose="02020603050405020304" pitchFamily="18" charset="0"/>
              </a:rPr>
              <a:t>.</a:t>
            </a:r>
          </a:p>
          <a:p>
            <a:pPr algn="just">
              <a:lnSpc>
                <a:spcPct val="115000"/>
              </a:lnSpc>
              <a:spcAft>
                <a:spcPts val="800"/>
              </a:spcAft>
              <a:buNone/>
            </a:pPr>
            <a:endParaRPr lang="en-AU" kern="100" dirty="0">
              <a:effectLst/>
              <a:latin typeface="+mn-lt"/>
              <a:ea typeface="DengXian" panose="02010600030101010101" pitchFamily="2" charset="-122"/>
              <a:cs typeface="Times New Roman" panose="02020603050405020304" pitchFamily="18" charset="0"/>
            </a:endParaRPr>
          </a:p>
          <a:p>
            <a:pPr algn="just">
              <a:lnSpc>
                <a:spcPct val="115000"/>
              </a:lnSpc>
              <a:buNone/>
            </a:pPr>
            <a:r>
              <a:rPr lang="en-AU" kern="100" dirty="0">
                <a:latin typeface="+mn-lt"/>
                <a:ea typeface="Aptos" panose="020B0004020202020204" pitchFamily="34" charset="0"/>
                <a:cs typeface="Times New Roman" panose="02020603050405020304" pitchFamily="18" charset="0"/>
              </a:rPr>
              <a:t>Participant d</a:t>
            </a:r>
            <a:r>
              <a:rPr lang="en-AU" kern="100" dirty="0">
                <a:effectLst/>
                <a:latin typeface="+mn-lt"/>
                <a:ea typeface="Aptos" panose="020B0004020202020204" pitchFamily="34" charset="0"/>
                <a:cs typeface="Times New Roman" panose="02020603050405020304" pitchFamily="18" charset="0"/>
              </a:rPr>
              <a:t>ata were randomly allocated to either a hold-out dataset (HOD) or a test dataset </a:t>
            </a:r>
            <a:r>
              <a:rPr lang="en-AU" kern="100" dirty="0">
                <a:latin typeface="+mn-lt"/>
                <a:ea typeface="Aptos" panose="020B0004020202020204" pitchFamily="34" charset="0"/>
                <a:cs typeface="Times New Roman" panose="02020603050405020304" pitchFamily="18" charset="0"/>
              </a:rPr>
              <a:t>with 5 CC and HCs in our HOD and 39 CC, 32 HC in our test dataset</a:t>
            </a:r>
            <a:r>
              <a:rPr lang="en-AU" kern="100" dirty="0">
                <a:effectLst/>
                <a:latin typeface="+mn-lt"/>
                <a:ea typeface="Aptos" panose="020B0004020202020204" pitchFamily="34" charset="0"/>
                <a:cs typeface="Times New Roman" panose="02020603050405020304" pitchFamily="18" charset="0"/>
              </a:rPr>
              <a:t>.</a:t>
            </a:r>
            <a:r>
              <a:rPr lang="en-AU" kern="100" dirty="0">
                <a:latin typeface="+mn-lt"/>
                <a:ea typeface="Aptos" panose="020B0004020202020204" pitchFamily="34" charset="0"/>
                <a:cs typeface="Times New Roman" panose="02020603050405020304" pitchFamily="18" charset="0"/>
              </a:rPr>
              <a:t> fMRI scans were parcellated using the Yeo 17 thick atlas [11]. </a:t>
            </a:r>
            <a:r>
              <a:rPr lang="en-US" kern="100" dirty="0">
                <a:effectLst/>
                <a:latin typeface="+mn-lt"/>
                <a:ea typeface="Aptos" panose="020B0004020202020204" pitchFamily="34" charset="0"/>
                <a:cs typeface="Times New Roman" panose="02020603050405020304" pitchFamily="18" charset="0"/>
              </a:rPr>
              <a:t>We </a:t>
            </a:r>
            <a:r>
              <a:rPr lang="en-US" kern="100" dirty="0">
                <a:solidFill>
                  <a:srgbClr val="000000"/>
                </a:solidFill>
                <a:effectLst/>
                <a:latin typeface="+mn-lt"/>
                <a:ea typeface="Aptos" panose="020B0004020202020204" pitchFamily="34" charset="0"/>
                <a:cs typeface="Times New Roman" panose="02020603050405020304" pitchFamily="18" charset="0"/>
              </a:rPr>
              <a:t>utilized a hidden Markov model (HMM) to identify underlying brain states driven by the stimuli via the OHBM HMM-MAR toolbox </a:t>
            </a:r>
            <a:r>
              <a:rPr lang="en-US" kern="100" dirty="0">
                <a:effectLst/>
                <a:latin typeface="+mn-lt"/>
                <a:ea typeface="Aptos" panose="020B0004020202020204" pitchFamily="34" charset="0"/>
                <a:cs typeface="Times New Roman" panose="02020603050405020304" pitchFamily="18" charset="0"/>
              </a:rPr>
              <a:t>[12]. </a:t>
            </a:r>
            <a:r>
              <a:rPr lang="en-US" kern="100" dirty="0">
                <a:solidFill>
                  <a:srgbClr val="000000"/>
                </a:solidFill>
                <a:effectLst/>
                <a:latin typeface="+mn-lt"/>
                <a:ea typeface="Aptos" panose="020B0004020202020204" pitchFamily="34" charset="0"/>
                <a:cs typeface="Times New Roman" panose="02020603050405020304" pitchFamily="18" charset="0"/>
              </a:rPr>
              <a:t>Parameters K (9</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 and </a:t>
            </a:r>
            <a:r>
              <a:rPr lang="en-US" kern="100" dirty="0" err="1">
                <a:solidFill>
                  <a:srgbClr val="000000"/>
                </a:solidFill>
                <a:effectLst/>
                <a:latin typeface="+mn-lt"/>
                <a:ea typeface="Aptos" panose="020B0004020202020204" pitchFamily="34" charset="0"/>
                <a:cs typeface="Times New Roman" panose="02020603050405020304" pitchFamily="18" charset="0"/>
              </a:rPr>
              <a:t>Dirichilet</a:t>
            </a:r>
            <a:r>
              <a:rPr lang="en-US" kern="100" dirty="0">
                <a:solidFill>
                  <a:srgbClr val="000000"/>
                </a:solidFill>
                <a:effectLst/>
                <a:latin typeface="+mn-lt"/>
                <a:ea typeface="Aptos" panose="020B0004020202020204" pitchFamily="34" charset="0"/>
                <a:cs typeface="Times New Roman" panose="02020603050405020304" pitchFamily="18" charset="0"/>
              </a:rPr>
              <a:t> </a:t>
            </a:r>
            <a:r>
              <a:rPr lang="en-US" kern="100" dirty="0" err="1">
                <a:solidFill>
                  <a:srgbClr val="000000"/>
                </a:solidFill>
                <a:effectLst/>
                <a:latin typeface="+mn-lt"/>
                <a:ea typeface="Aptos" panose="020B0004020202020204" pitchFamily="34" charset="0"/>
                <a:cs typeface="Times New Roman" panose="02020603050405020304" pitchFamily="18" charset="0"/>
              </a:rPr>
              <a:t>Diag</a:t>
            </a:r>
            <a:r>
              <a:rPr lang="en-US" kern="100" dirty="0">
                <a:solidFill>
                  <a:srgbClr val="000000"/>
                </a:solidFill>
                <a:effectLst/>
                <a:latin typeface="+mn-lt"/>
                <a:ea typeface="Aptos" panose="020B0004020202020204" pitchFamily="34" charset="0"/>
                <a:cs typeface="Times New Roman" panose="02020603050405020304" pitchFamily="18" charset="0"/>
              </a:rPr>
              <a:t> (10</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 for the HMM-MAR model were determined using cross-validation and free energy computation on a selection of candidate priors with our HOD.  We then quantified how much time is spent in each brain state (fractional occupancy </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FO</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).We performed t-tests on the FO of the 9 HMM states, and performed the Benjamini-Hochberg procedure for FDR correction. </a:t>
            </a:r>
            <a:endParaRPr lang="en-AU" kern="100" dirty="0">
              <a:effectLst/>
              <a:latin typeface="+mn-lt"/>
              <a:ea typeface="Aptos" panose="020B000402020202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id="{A3CE883A-711A-DB0A-8D33-ED00CA07D4E8}"/>
              </a:ext>
            </a:extLst>
          </p:cNvPr>
          <p:cNvSpPr txBox="1"/>
          <p:nvPr/>
        </p:nvSpPr>
        <p:spPr>
          <a:xfrm>
            <a:off x="853536" y="22943438"/>
            <a:ext cx="27953324" cy="400110"/>
          </a:xfrm>
          <a:prstGeom prst="rect">
            <a:avLst/>
          </a:prstGeom>
          <a:noFill/>
        </p:spPr>
        <p:txBody>
          <a:bodyPr wrap="square" rtlCol="0">
            <a:spAutoFit/>
          </a:bodyPr>
          <a:lstStyle/>
          <a:p>
            <a:r>
              <a:rPr lang="en-GB" sz="2000" b="1" i="1" dirty="0"/>
              <a:t>Table 1. </a:t>
            </a:r>
            <a:r>
              <a:rPr lang="en-GB" sz="2000" dirty="0"/>
              <a:t>Annotation of video clip watched by participants with segments in chronological order, time stamps, target emotion and % of time target emotion occurred as measured by Facial Action Units [10] . </a:t>
            </a:r>
          </a:p>
        </p:txBody>
      </p:sp>
      <p:sp>
        <p:nvSpPr>
          <p:cNvPr id="54" name="TextBox 53">
            <a:extLst>
              <a:ext uri="{FF2B5EF4-FFF2-40B4-BE49-F238E27FC236}">
                <a16:creationId xmlns:a16="http://schemas.microsoft.com/office/drawing/2014/main" id="{4C1E7195-45F0-BBF0-890D-4F948CA7BDF4}"/>
              </a:ext>
            </a:extLst>
          </p:cNvPr>
          <p:cNvSpPr txBox="1"/>
          <p:nvPr/>
        </p:nvSpPr>
        <p:spPr>
          <a:xfrm>
            <a:off x="853536" y="28470844"/>
            <a:ext cx="13753926" cy="707886"/>
          </a:xfrm>
          <a:prstGeom prst="rect">
            <a:avLst/>
          </a:prstGeom>
          <a:noFill/>
        </p:spPr>
        <p:txBody>
          <a:bodyPr wrap="square" rtlCol="0">
            <a:spAutoFit/>
          </a:bodyPr>
          <a:lstStyle/>
          <a:p>
            <a:r>
              <a:rPr lang="en-GB" sz="2000" b="1" i="1" dirty="0"/>
              <a:t>Table 2. </a:t>
            </a:r>
            <a:r>
              <a:rPr lang="en-GB" sz="2000" dirty="0"/>
              <a:t>Between group p-values for fractional occupancy of each state during video viewing by t test, adjusted via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dirty="0"/>
              <a:t>  </a:t>
            </a:r>
          </a:p>
        </p:txBody>
      </p:sp>
      <p:pic>
        <p:nvPicPr>
          <p:cNvPr id="57" name="Picture 56">
            <a:extLst>
              <a:ext uri="{FF2B5EF4-FFF2-40B4-BE49-F238E27FC236}">
                <a16:creationId xmlns:a16="http://schemas.microsoft.com/office/drawing/2014/main" id="{A041F5F9-5F41-F679-C578-9C971467DE9E}"/>
              </a:ext>
            </a:extLst>
          </p:cNvPr>
          <p:cNvPicPr>
            <a:picLocks noChangeAspect="1"/>
          </p:cNvPicPr>
          <p:nvPr/>
        </p:nvPicPr>
        <p:blipFill>
          <a:blip r:embed="rId7"/>
          <a:srcRect t="16273"/>
          <a:stretch>
            <a:fillRect/>
          </a:stretch>
        </p:blipFill>
        <p:spPr>
          <a:xfrm>
            <a:off x="1000638" y="26113360"/>
            <a:ext cx="13183977" cy="1251034"/>
          </a:xfrm>
          <a:prstGeom prst="rect">
            <a:avLst/>
          </a:prstGeom>
        </p:spPr>
      </p:pic>
      <p:sp>
        <p:nvSpPr>
          <p:cNvPr id="58" name="TextBox 57">
            <a:extLst>
              <a:ext uri="{FF2B5EF4-FFF2-40B4-BE49-F238E27FC236}">
                <a16:creationId xmlns:a16="http://schemas.microsoft.com/office/drawing/2014/main" id="{EE22BAF9-4624-B346-3F48-E769A818B7E0}"/>
              </a:ext>
            </a:extLst>
          </p:cNvPr>
          <p:cNvSpPr txBox="1"/>
          <p:nvPr/>
        </p:nvSpPr>
        <p:spPr>
          <a:xfrm>
            <a:off x="946995" y="27714943"/>
            <a:ext cx="13237620" cy="400110"/>
          </a:xfrm>
          <a:prstGeom prst="rect">
            <a:avLst/>
          </a:prstGeom>
          <a:noFill/>
        </p:spPr>
        <p:txBody>
          <a:bodyPr wrap="square" rtlCol="0">
            <a:spAutoFit/>
          </a:bodyPr>
          <a:lstStyle/>
          <a:p>
            <a:r>
              <a:rPr lang="en-US" sz="2000" b="1" i="1" dirty="0"/>
              <a:t>Figure 3. </a:t>
            </a:r>
            <a:r>
              <a:rPr lang="en-US" sz="2000" dirty="0" err="1"/>
              <a:t>Colour</a:t>
            </a:r>
            <a:r>
              <a:rPr lang="en-US" sz="2000" dirty="0"/>
              <a:t> key to HMM states, annotated by number.</a:t>
            </a:r>
          </a:p>
        </p:txBody>
      </p:sp>
    </p:spTree>
  </p:cSld>
  <p:clrMapOvr>
    <a:masterClrMapping/>
  </p:clrMapOvr>
</p:sld>
</file>

<file path=ppt/theme/theme1.xml><?xml version="1.0" encoding="utf-8"?>
<a:theme xmlns:a="http://schemas.openxmlformats.org/drawingml/2006/main" name="Leere Präsentation">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457</TotalTime>
  <Words>1540</Words>
  <Application>Microsoft Macintosh PowerPoint</Application>
  <PresentationFormat>Custom</PresentationFormat>
  <Paragraphs>141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Roboto Mono Web</vt:lpstr>
      <vt:lpstr>Aptos</vt:lpstr>
      <vt:lpstr>Arial</vt:lpstr>
      <vt:lpstr>Arial Black</vt:lpstr>
      <vt:lpstr>Calibri</vt:lpstr>
      <vt:lpstr>Leere Präsentation</vt:lpstr>
      <vt:lpstr>PowerPoint Presentation</vt:lpstr>
    </vt:vector>
  </TitlesOfParts>
  <Company>MPI für neurologische Forschung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MPIfnF MPG</dc:creator>
  <cp:lastModifiedBy>Judy Xiaotian Li</cp:lastModifiedBy>
  <cp:revision>47</cp:revision>
  <dcterms:created xsi:type="dcterms:W3CDTF">2008-04-03T07:31:16Z</dcterms:created>
  <dcterms:modified xsi:type="dcterms:W3CDTF">2025-11-10T04:47:10Z</dcterms:modified>
</cp:coreProperties>
</file>