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0275213" cy="42803763"/>
  <p:notesSz cx="6858000" cy="9144000"/>
  <p:defaultTextStyle>
    <a:defPPr>
      <a:defRPr lang="de-DE"/>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3481">
          <p15:clr>
            <a:srgbClr val="A4A3A4"/>
          </p15:clr>
        </p15:guide>
        <p15:guide id="2" pos="95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84FF7B"/>
    <a:srgbClr val="07FFFB"/>
    <a:srgbClr val="D0F6F6"/>
    <a:srgbClr val="AFEF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11"/>
    <p:restoredTop sz="94459"/>
  </p:normalViewPr>
  <p:slideViewPr>
    <p:cSldViewPr>
      <p:cViewPr>
        <p:scale>
          <a:sx n="20" d="100"/>
          <a:sy n="20" d="100"/>
        </p:scale>
        <p:origin x="4064" y="248"/>
      </p:cViewPr>
      <p:guideLst>
        <p:guide orient="horz" pos="13481"/>
        <p:guide pos="9535"/>
      </p:guideLst>
    </p:cSldViewPr>
  </p:slideViewPr>
  <p:outlineViewPr>
    <p:cViewPr>
      <p:scale>
        <a:sx n="100" d="100"/>
        <a:sy n="100" d="100"/>
      </p:scale>
      <p:origin x="0" y="0"/>
    </p:cViewPr>
  </p:outlin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529DD-5C42-9C49-A7A3-0B2E51ADCAFC}" type="datetimeFigureOut">
              <a:rPr lang="en-US" smtClean="0"/>
              <a:t>11/10/25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9ADBE-3D52-AC48-BB99-D1A2E4321B4A}" type="slidenum">
              <a:rPr lang="en-US" smtClean="0"/>
              <a:t>‹#›</a:t>
            </a:fld>
            <a:endParaRPr lang="en-US"/>
          </a:p>
        </p:txBody>
      </p:sp>
    </p:spTree>
    <p:extLst>
      <p:ext uri="{BB962C8B-B14F-4D97-AF65-F5344CB8AC3E}">
        <p14:creationId xmlns:p14="http://schemas.microsoft.com/office/powerpoint/2010/main" val="41124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29ADBE-3D52-AC48-BB99-D1A2E4321B4A}" type="slidenum">
              <a:rPr lang="en-US" smtClean="0"/>
              <a:t>1</a:t>
            </a:fld>
            <a:endParaRPr lang="en-US"/>
          </a:p>
        </p:txBody>
      </p:sp>
    </p:spTree>
    <p:extLst>
      <p:ext uri="{BB962C8B-B14F-4D97-AF65-F5344CB8AC3E}">
        <p14:creationId xmlns:p14="http://schemas.microsoft.com/office/powerpoint/2010/main" val="3998816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271435" y="13296900"/>
            <a:ext cx="25733932" cy="9175750"/>
          </a:xfrm>
        </p:spPr>
        <p:txBody>
          <a:bodyPr/>
          <a:lstStyle/>
          <a:p>
            <a:r>
              <a:rPr lang="de-DE"/>
              <a:t>Mastertitelformat bearbeiten</a:t>
            </a:r>
          </a:p>
        </p:txBody>
      </p:sp>
      <p:sp>
        <p:nvSpPr>
          <p:cNvPr id="3" name="Untertitel 2"/>
          <p:cNvSpPr>
            <a:spLocks noGrp="1"/>
          </p:cNvSpPr>
          <p:nvPr>
            <p:ph type="subTitle" idx="1"/>
          </p:nvPr>
        </p:nvSpPr>
        <p:spPr>
          <a:xfrm>
            <a:off x="4541283" y="24255413"/>
            <a:ext cx="21192649" cy="1093946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Master-Untertitelformat bearbeiten</a:t>
            </a:r>
          </a:p>
        </p:txBody>
      </p:sp>
      <p:sp>
        <p:nvSpPr>
          <p:cNvPr id="4" name="Rectangle 4">
            <a:extLst>
              <a:ext uri="{FF2B5EF4-FFF2-40B4-BE49-F238E27FC236}">
                <a16:creationId xmlns:a16="http://schemas.microsoft.com/office/drawing/2014/main" id="{291A82DB-B1AE-4946-E2EF-65EC0558B8B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83E4E811-02BB-F85D-F574-838CC308DE1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16E6424E-7D0A-726B-1531-3D158FA6C39D}"/>
              </a:ext>
            </a:extLst>
          </p:cNvPr>
          <p:cNvSpPr>
            <a:spLocks noGrp="1" noChangeArrowheads="1"/>
          </p:cNvSpPr>
          <p:nvPr>
            <p:ph type="sldNum" sz="quarter" idx="12"/>
          </p:nvPr>
        </p:nvSpPr>
        <p:spPr>
          <a:ln/>
        </p:spPr>
        <p:txBody>
          <a:bodyPr/>
          <a:lstStyle>
            <a:lvl1pPr>
              <a:defRPr/>
            </a:lvl1pPr>
          </a:lstStyle>
          <a:p>
            <a:fld id="{6169A66E-5714-B441-8665-D02AE9D94B8B}" type="slidenum">
              <a:rPr lang="de-DE" altLang="en-US"/>
              <a:pPr/>
              <a:t>‹#›</a:t>
            </a:fld>
            <a:endParaRPr lang="de-DE" altLang="en-US"/>
          </a:p>
        </p:txBody>
      </p:sp>
    </p:spTree>
    <p:extLst>
      <p:ext uri="{BB962C8B-B14F-4D97-AF65-F5344CB8AC3E}">
        <p14:creationId xmlns:p14="http://schemas.microsoft.com/office/powerpoint/2010/main" val="382196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D29C20EA-2AF2-817F-AEA4-8FD9769686EE}"/>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FEC53D1A-B009-981C-2EA7-35393C6E3334}"/>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DF82C5D-4092-6DB7-F25B-55F60E7ED39D}"/>
              </a:ext>
            </a:extLst>
          </p:cNvPr>
          <p:cNvSpPr>
            <a:spLocks noGrp="1" noChangeArrowheads="1"/>
          </p:cNvSpPr>
          <p:nvPr>
            <p:ph type="sldNum" sz="quarter" idx="12"/>
          </p:nvPr>
        </p:nvSpPr>
        <p:spPr>
          <a:ln/>
        </p:spPr>
        <p:txBody>
          <a:bodyPr/>
          <a:lstStyle>
            <a:lvl1pPr>
              <a:defRPr/>
            </a:lvl1pPr>
          </a:lstStyle>
          <a:p>
            <a:fld id="{A357A146-A5B8-FD4D-AF7C-09C001205BB9}" type="slidenum">
              <a:rPr lang="de-DE" altLang="en-US"/>
              <a:pPr/>
              <a:t>‹#›</a:t>
            </a:fld>
            <a:endParaRPr lang="de-DE" altLang="en-US"/>
          </a:p>
        </p:txBody>
      </p:sp>
    </p:spTree>
    <p:extLst>
      <p:ext uri="{BB962C8B-B14F-4D97-AF65-F5344CB8AC3E}">
        <p14:creationId xmlns:p14="http://schemas.microsoft.com/office/powerpoint/2010/main" val="225662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2155" y="27505026"/>
            <a:ext cx="25733932" cy="8501063"/>
          </a:xfrm>
        </p:spPr>
        <p:txBody>
          <a:bodyPr anchor="t"/>
          <a:lstStyle>
            <a:lvl1pPr algn="l">
              <a:defRPr sz="4000" b="1" cap="all"/>
            </a:lvl1pPr>
          </a:lstStyle>
          <a:p>
            <a:r>
              <a:rPr lang="de-DE"/>
              <a:t>Mastertitelformat bearbeiten</a:t>
            </a:r>
          </a:p>
        </p:txBody>
      </p:sp>
      <p:sp>
        <p:nvSpPr>
          <p:cNvPr id="3" name="Textplatzhalter 2"/>
          <p:cNvSpPr>
            <a:spLocks noGrp="1"/>
          </p:cNvSpPr>
          <p:nvPr>
            <p:ph type="body" idx="1"/>
          </p:nvPr>
        </p:nvSpPr>
        <p:spPr>
          <a:xfrm>
            <a:off x="2392155" y="18141951"/>
            <a:ext cx="25733932" cy="93630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Mastertextformat bearbeiten</a:t>
            </a:r>
          </a:p>
        </p:txBody>
      </p:sp>
      <p:sp>
        <p:nvSpPr>
          <p:cNvPr id="4" name="Rectangle 4">
            <a:extLst>
              <a:ext uri="{FF2B5EF4-FFF2-40B4-BE49-F238E27FC236}">
                <a16:creationId xmlns:a16="http://schemas.microsoft.com/office/drawing/2014/main" id="{9FF2F1BA-2282-33F1-E563-4C9B51738167}"/>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331F209-4F02-BEE5-1C03-EE6B17D6B2F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90D205C-BC83-3902-1149-62B2D7715DB7}"/>
              </a:ext>
            </a:extLst>
          </p:cNvPr>
          <p:cNvSpPr>
            <a:spLocks noGrp="1" noChangeArrowheads="1"/>
          </p:cNvSpPr>
          <p:nvPr>
            <p:ph type="sldNum" sz="quarter" idx="12"/>
          </p:nvPr>
        </p:nvSpPr>
        <p:spPr>
          <a:ln/>
        </p:spPr>
        <p:txBody>
          <a:bodyPr/>
          <a:lstStyle>
            <a:lvl1pPr>
              <a:defRPr/>
            </a:lvl1pPr>
          </a:lstStyle>
          <a:p>
            <a:fld id="{F431B53C-0B9B-6E4B-85DF-336867A5FBDA}" type="slidenum">
              <a:rPr lang="de-DE" altLang="en-US"/>
              <a:pPr/>
              <a:t>‹#›</a:t>
            </a:fld>
            <a:endParaRPr lang="de-DE" altLang="en-US"/>
          </a:p>
        </p:txBody>
      </p:sp>
    </p:spTree>
    <p:extLst>
      <p:ext uri="{BB962C8B-B14F-4D97-AF65-F5344CB8AC3E}">
        <p14:creationId xmlns:p14="http://schemas.microsoft.com/office/powerpoint/2010/main" val="391171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2271435" y="12365039"/>
            <a:ext cx="12789927"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15213851" y="12365039"/>
            <a:ext cx="12791516" cy="2568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4">
            <a:extLst>
              <a:ext uri="{FF2B5EF4-FFF2-40B4-BE49-F238E27FC236}">
                <a16:creationId xmlns:a16="http://schemas.microsoft.com/office/drawing/2014/main" id="{3E29197A-FD46-3EFF-B4D6-2D7DF5F8BF28}"/>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C55FF186-696D-7F62-F3D2-93B80BD2C74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831D7817-309D-5F72-3EE6-93FB52C83DF5}"/>
              </a:ext>
            </a:extLst>
          </p:cNvPr>
          <p:cNvSpPr>
            <a:spLocks noGrp="1" noChangeArrowheads="1"/>
          </p:cNvSpPr>
          <p:nvPr>
            <p:ph type="sldNum" sz="quarter" idx="12"/>
          </p:nvPr>
        </p:nvSpPr>
        <p:spPr>
          <a:ln/>
        </p:spPr>
        <p:txBody>
          <a:bodyPr/>
          <a:lstStyle>
            <a:lvl1pPr>
              <a:defRPr/>
            </a:lvl1pPr>
          </a:lstStyle>
          <a:p>
            <a:fld id="{D604C990-0E86-0A49-9E14-FEE1A268B60E}" type="slidenum">
              <a:rPr lang="de-DE" altLang="en-US"/>
              <a:pPr/>
              <a:t>‹#›</a:t>
            </a:fld>
            <a:endParaRPr lang="de-DE" altLang="en-US"/>
          </a:p>
        </p:txBody>
      </p:sp>
    </p:spTree>
    <p:extLst>
      <p:ext uri="{BB962C8B-B14F-4D97-AF65-F5344CB8AC3E}">
        <p14:creationId xmlns:p14="http://schemas.microsoft.com/office/powerpoint/2010/main" val="3668697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513762" y="1714501"/>
            <a:ext cx="27247692" cy="7134225"/>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1513762" y="9580563"/>
            <a:ext cx="13376052"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1513762" y="13574713"/>
            <a:ext cx="13376052"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79046" y="9580563"/>
            <a:ext cx="13382407" cy="39941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15379046" y="13574713"/>
            <a:ext cx="13382407" cy="246618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4">
            <a:extLst>
              <a:ext uri="{FF2B5EF4-FFF2-40B4-BE49-F238E27FC236}">
                <a16:creationId xmlns:a16="http://schemas.microsoft.com/office/drawing/2014/main" id="{AE1FCF45-6BA7-C8BD-F425-4769EB48D8E7}"/>
              </a:ext>
            </a:extLst>
          </p:cNvPr>
          <p:cNvSpPr>
            <a:spLocks noGrp="1" noChangeArrowheads="1"/>
          </p:cNvSpPr>
          <p:nvPr>
            <p:ph type="dt" sz="half" idx="10"/>
          </p:nvPr>
        </p:nvSpPr>
        <p:spPr>
          <a:ln/>
        </p:spPr>
        <p:txBody>
          <a:bodyPr/>
          <a:lstStyle>
            <a:lvl1pPr>
              <a:defRPr/>
            </a:lvl1pPr>
          </a:lstStyle>
          <a:p>
            <a:pPr>
              <a:defRPr/>
            </a:pPr>
            <a:endParaRPr lang="de-DE"/>
          </a:p>
        </p:txBody>
      </p:sp>
      <p:sp>
        <p:nvSpPr>
          <p:cNvPr id="8" name="Rectangle 5">
            <a:extLst>
              <a:ext uri="{FF2B5EF4-FFF2-40B4-BE49-F238E27FC236}">
                <a16:creationId xmlns:a16="http://schemas.microsoft.com/office/drawing/2014/main" id="{FE6303B8-9887-A1E2-45BC-ABC0738CD31F}"/>
              </a:ext>
            </a:extLst>
          </p:cNvPr>
          <p:cNvSpPr>
            <a:spLocks noGrp="1" noChangeArrowheads="1"/>
          </p:cNvSpPr>
          <p:nvPr>
            <p:ph type="ftr" sz="quarter" idx="11"/>
          </p:nvPr>
        </p:nvSpPr>
        <p:spPr>
          <a:ln/>
        </p:spPr>
        <p:txBody>
          <a:bodyPr/>
          <a:lstStyle>
            <a:lvl1pPr>
              <a:defRPr/>
            </a:lvl1pPr>
          </a:lstStyle>
          <a:p>
            <a:pPr>
              <a:defRPr/>
            </a:pPr>
            <a:endParaRPr lang="de-DE"/>
          </a:p>
        </p:txBody>
      </p:sp>
      <p:sp>
        <p:nvSpPr>
          <p:cNvPr id="9" name="Rectangle 6">
            <a:extLst>
              <a:ext uri="{FF2B5EF4-FFF2-40B4-BE49-F238E27FC236}">
                <a16:creationId xmlns:a16="http://schemas.microsoft.com/office/drawing/2014/main" id="{23DA68EE-075C-CE22-9C91-EB776E48098F}"/>
              </a:ext>
            </a:extLst>
          </p:cNvPr>
          <p:cNvSpPr>
            <a:spLocks noGrp="1" noChangeArrowheads="1"/>
          </p:cNvSpPr>
          <p:nvPr>
            <p:ph type="sldNum" sz="quarter" idx="12"/>
          </p:nvPr>
        </p:nvSpPr>
        <p:spPr>
          <a:ln/>
        </p:spPr>
        <p:txBody>
          <a:bodyPr/>
          <a:lstStyle>
            <a:lvl1pPr>
              <a:defRPr/>
            </a:lvl1pPr>
          </a:lstStyle>
          <a:p>
            <a:fld id="{8A8ADC20-42AE-E846-B2DF-BD1449E5DE68}" type="slidenum">
              <a:rPr lang="de-DE" altLang="en-US"/>
              <a:pPr/>
              <a:t>‹#›</a:t>
            </a:fld>
            <a:endParaRPr lang="de-DE" altLang="en-US"/>
          </a:p>
        </p:txBody>
      </p:sp>
    </p:spTree>
    <p:extLst>
      <p:ext uri="{BB962C8B-B14F-4D97-AF65-F5344CB8AC3E}">
        <p14:creationId xmlns:p14="http://schemas.microsoft.com/office/powerpoint/2010/main" val="3955372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Rectangle 4">
            <a:extLst>
              <a:ext uri="{FF2B5EF4-FFF2-40B4-BE49-F238E27FC236}">
                <a16:creationId xmlns:a16="http://schemas.microsoft.com/office/drawing/2014/main" id="{479B28DA-9D65-B66C-B67A-5CF632FA91AE}"/>
              </a:ext>
            </a:extLst>
          </p:cNvPr>
          <p:cNvSpPr>
            <a:spLocks noGrp="1" noChangeArrowheads="1"/>
          </p:cNvSpPr>
          <p:nvPr>
            <p:ph type="dt" sz="half" idx="10"/>
          </p:nvPr>
        </p:nvSpPr>
        <p:spPr>
          <a:ln/>
        </p:spPr>
        <p:txBody>
          <a:bodyPr/>
          <a:lstStyle>
            <a:lvl1pPr>
              <a:defRPr/>
            </a:lvl1pPr>
          </a:lstStyle>
          <a:p>
            <a:pPr>
              <a:defRPr/>
            </a:pPr>
            <a:endParaRPr lang="de-DE"/>
          </a:p>
        </p:txBody>
      </p:sp>
      <p:sp>
        <p:nvSpPr>
          <p:cNvPr id="4" name="Rectangle 5">
            <a:extLst>
              <a:ext uri="{FF2B5EF4-FFF2-40B4-BE49-F238E27FC236}">
                <a16:creationId xmlns:a16="http://schemas.microsoft.com/office/drawing/2014/main" id="{132708C9-569E-95D9-4E95-6C582505BF43}"/>
              </a:ext>
            </a:extLst>
          </p:cNvPr>
          <p:cNvSpPr>
            <a:spLocks noGrp="1" noChangeArrowheads="1"/>
          </p:cNvSpPr>
          <p:nvPr>
            <p:ph type="ftr" sz="quarter" idx="11"/>
          </p:nvPr>
        </p:nvSpPr>
        <p:spPr>
          <a:ln/>
        </p:spPr>
        <p:txBody>
          <a:bodyPr/>
          <a:lstStyle>
            <a:lvl1pPr>
              <a:defRPr/>
            </a:lvl1pPr>
          </a:lstStyle>
          <a:p>
            <a:pPr>
              <a:defRPr/>
            </a:pPr>
            <a:endParaRPr lang="de-DE"/>
          </a:p>
        </p:txBody>
      </p:sp>
      <p:sp>
        <p:nvSpPr>
          <p:cNvPr id="5" name="Rectangle 6">
            <a:extLst>
              <a:ext uri="{FF2B5EF4-FFF2-40B4-BE49-F238E27FC236}">
                <a16:creationId xmlns:a16="http://schemas.microsoft.com/office/drawing/2014/main" id="{32128155-8445-639F-A014-F0E92CA2902D}"/>
              </a:ext>
            </a:extLst>
          </p:cNvPr>
          <p:cNvSpPr>
            <a:spLocks noGrp="1" noChangeArrowheads="1"/>
          </p:cNvSpPr>
          <p:nvPr>
            <p:ph type="sldNum" sz="quarter" idx="12"/>
          </p:nvPr>
        </p:nvSpPr>
        <p:spPr>
          <a:ln/>
        </p:spPr>
        <p:txBody>
          <a:bodyPr/>
          <a:lstStyle>
            <a:lvl1pPr>
              <a:defRPr/>
            </a:lvl1pPr>
          </a:lstStyle>
          <a:p>
            <a:fld id="{01FC597C-98BD-DE4C-8FE1-2F514F5209B6}" type="slidenum">
              <a:rPr lang="de-DE" altLang="en-US"/>
              <a:pPr/>
              <a:t>‹#›</a:t>
            </a:fld>
            <a:endParaRPr lang="de-DE" altLang="en-US"/>
          </a:p>
        </p:txBody>
      </p:sp>
    </p:spTree>
    <p:extLst>
      <p:ext uri="{BB962C8B-B14F-4D97-AF65-F5344CB8AC3E}">
        <p14:creationId xmlns:p14="http://schemas.microsoft.com/office/powerpoint/2010/main" val="1275892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9B6EFFC-C476-2121-B7E2-699B895E7D48}"/>
              </a:ext>
            </a:extLst>
          </p:cNvPr>
          <p:cNvSpPr>
            <a:spLocks noGrp="1" noChangeArrowheads="1"/>
          </p:cNvSpPr>
          <p:nvPr>
            <p:ph type="dt" sz="half" idx="10"/>
          </p:nvPr>
        </p:nvSpPr>
        <p:spPr>
          <a:ln/>
        </p:spPr>
        <p:txBody>
          <a:bodyPr/>
          <a:lstStyle>
            <a:lvl1pPr>
              <a:defRPr/>
            </a:lvl1pPr>
          </a:lstStyle>
          <a:p>
            <a:pPr>
              <a:defRPr/>
            </a:pPr>
            <a:endParaRPr lang="de-DE"/>
          </a:p>
        </p:txBody>
      </p:sp>
      <p:sp>
        <p:nvSpPr>
          <p:cNvPr id="3" name="Rectangle 5">
            <a:extLst>
              <a:ext uri="{FF2B5EF4-FFF2-40B4-BE49-F238E27FC236}">
                <a16:creationId xmlns:a16="http://schemas.microsoft.com/office/drawing/2014/main" id="{6D890482-94D1-C92B-F998-649CD5F6E817}"/>
              </a:ext>
            </a:extLst>
          </p:cNvPr>
          <p:cNvSpPr>
            <a:spLocks noGrp="1" noChangeArrowheads="1"/>
          </p:cNvSpPr>
          <p:nvPr>
            <p:ph type="ftr" sz="quarter" idx="11"/>
          </p:nvPr>
        </p:nvSpPr>
        <p:spPr>
          <a:ln/>
        </p:spPr>
        <p:txBody>
          <a:bodyPr/>
          <a:lstStyle>
            <a:lvl1pPr>
              <a:defRPr/>
            </a:lvl1pPr>
          </a:lstStyle>
          <a:p>
            <a:pPr>
              <a:defRPr/>
            </a:pPr>
            <a:endParaRPr lang="de-DE"/>
          </a:p>
        </p:txBody>
      </p:sp>
      <p:sp>
        <p:nvSpPr>
          <p:cNvPr id="4" name="Rectangle 6">
            <a:extLst>
              <a:ext uri="{FF2B5EF4-FFF2-40B4-BE49-F238E27FC236}">
                <a16:creationId xmlns:a16="http://schemas.microsoft.com/office/drawing/2014/main" id="{8347EFC2-FD11-9AB1-6914-C707D8BCFA49}"/>
              </a:ext>
            </a:extLst>
          </p:cNvPr>
          <p:cNvSpPr>
            <a:spLocks noGrp="1" noChangeArrowheads="1"/>
          </p:cNvSpPr>
          <p:nvPr>
            <p:ph type="sldNum" sz="quarter" idx="12"/>
          </p:nvPr>
        </p:nvSpPr>
        <p:spPr>
          <a:ln/>
        </p:spPr>
        <p:txBody>
          <a:bodyPr/>
          <a:lstStyle>
            <a:lvl1pPr>
              <a:defRPr/>
            </a:lvl1pPr>
          </a:lstStyle>
          <a:p>
            <a:fld id="{A284E8C9-29EC-3D41-99E0-4F6E3D31533A}" type="slidenum">
              <a:rPr lang="de-DE" altLang="en-US"/>
              <a:pPr/>
              <a:t>‹#›</a:t>
            </a:fld>
            <a:endParaRPr lang="de-DE" altLang="en-US"/>
          </a:p>
        </p:txBody>
      </p:sp>
    </p:spTree>
    <p:extLst>
      <p:ext uri="{BB962C8B-B14F-4D97-AF65-F5344CB8AC3E}">
        <p14:creationId xmlns:p14="http://schemas.microsoft.com/office/powerpoint/2010/main" val="255976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513761" y="1704975"/>
            <a:ext cx="9960958" cy="7251700"/>
          </a:xfrm>
        </p:spPr>
        <p:txBody>
          <a:bodyPr anchor="b"/>
          <a:lstStyle>
            <a:lvl1pPr algn="l">
              <a:defRPr sz="2000" b="1"/>
            </a:lvl1pPr>
          </a:lstStyle>
          <a:p>
            <a:r>
              <a:rPr lang="de-DE"/>
              <a:t>Mastertitelformat bearbeiten</a:t>
            </a:r>
          </a:p>
        </p:txBody>
      </p:sp>
      <p:sp>
        <p:nvSpPr>
          <p:cNvPr id="3" name="Inhaltsplatzhalter 2"/>
          <p:cNvSpPr>
            <a:spLocks noGrp="1"/>
          </p:cNvSpPr>
          <p:nvPr>
            <p:ph idx="1"/>
          </p:nvPr>
        </p:nvSpPr>
        <p:spPr>
          <a:xfrm>
            <a:off x="11836878" y="1704975"/>
            <a:ext cx="16924575" cy="365315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3761" y="8956675"/>
            <a:ext cx="9960958" cy="292798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5086E514-4E43-DF4E-3E78-36948F38EACD}"/>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DBDED11A-040F-5827-45D8-F54CE34E5EE9}"/>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1FD8BB2E-749A-2FBB-E555-ED2FDF889C64}"/>
              </a:ext>
            </a:extLst>
          </p:cNvPr>
          <p:cNvSpPr>
            <a:spLocks noGrp="1" noChangeArrowheads="1"/>
          </p:cNvSpPr>
          <p:nvPr>
            <p:ph type="sldNum" sz="quarter" idx="12"/>
          </p:nvPr>
        </p:nvSpPr>
        <p:spPr>
          <a:ln/>
        </p:spPr>
        <p:txBody>
          <a:bodyPr/>
          <a:lstStyle>
            <a:lvl1pPr>
              <a:defRPr/>
            </a:lvl1pPr>
          </a:lstStyle>
          <a:p>
            <a:fld id="{CD6373B2-185C-B146-990F-E6E825EB30A2}" type="slidenum">
              <a:rPr lang="de-DE" altLang="en-US"/>
              <a:pPr/>
              <a:t>‹#›</a:t>
            </a:fld>
            <a:endParaRPr lang="de-DE" altLang="en-US"/>
          </a:p>
        </p:txBody>
      </p:sp>
    </p:spTree>
    <p:extLst>
      <p:ext uri="{BB962C8B-B14F-4D97-AF65-F5344CB8AC3E}">
        <p14:creationId xmlns:p14="http://schemas.microsoft.com/office/powerpoint/2010/main" val="54481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5934323" y="29962475"/>
            <a:ext cx="18165128" cy="3536950"/>
          </a:xfrm>
        </p:spPr>
        <p:txBody>
          <a:bodyPr anchor="b"/>
          <a:lstStyle>
            <a:lvl1pPr algn="l">
              <a:defRPr sz="2000" b="1"/>
            </a:lvl1pPr>
          </a:lstStyle>
          <a:p>
            <a:r>
              <a:rPr lang="de-DE"/>
              <a:t>Mastertitelformat bearbeiten</a:t>
            </a:r>
          </a:p>
        </p:txBody>
      </p:sp>
      <p:sp>
        <p:nvSpPr>
          <p:cNvPr id="3" name="Bildplatzhalter 2"/>
          <p:cNvSpPr>
            <a:spLocks noGrp="1"/>
          </p:cNvSpPr>
          <p:nvPr>
            <p:ph type="pic" idx="1"/>
          </p:nvPr>
        </p:nvSpPr>
        <p:spPr>
          <a:xfrm>
            <a:off x="5934323" y="3824289"/>
            <a:ext cx="18165128" cy="256825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5934323" y="33499425"/>
            <a:ext cx="18165128"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Rectangle 4">
            <a:extLst>
              <a:ext uri="{FF2B5EF4-FFF2-40B4-BE49-F238E27FC236}">
                <a16:creationId xmlns:a16="http://schemas.microsoft.com/office/drawing/2014/main" id="{93108817-66BD-6864-9273-D59EDF6CD05A}"/>
              </a:ext>
            </a:extLst>
          </p:cNvPr>
          <p:cNvSpPr>
            <a:spLocks noGrp="1" noChangeArrowheads="1"/>
          </p:cNvSpPr>
          <p:nvPr>
            <p:ph type="dt" sz="half" idx="10"/>
          </p:nvPr>
        </p:nvSpPr>
        <p:spPr>
          <a:ln/>
        </p:spPr>
        <p:txBody>
          <a:bodyPr/>
          <a:lstStyle>
            <a:lvl1pPr>
              <a:defRPr/>
            </a:lvl1pPr>
          </a:lstStyle>
          <a:p>
            <a:pPr>
              <a:defRPr/>
            </a:pPr>
            <a:endParaRPr lang="de-DE"/>
          </a:p>
        </p:txBody>
      </p:sp>
      <p:sp>
        <p:nvSpPr>
          <p:cNvPr id="6" name="Rectangle 5">
            <a:extLst>
              <a:ext uri="{FF2B5EF4-FFF2-40B4-BE49-F238E27FC236}">
                <a16:creationId xmlns:a16="http://schemas.microsoft.com/office/drawing/2014/main" id="{EC9DEF94-6E16-77EF-B1E4-CD1647C707E6}"/>
              </a:ext>
            </a:extLst>
          </p:cNvPr>
          <p:cNvSpPr>
            <a:spLocks noGrp="1" noChangeArrowheads="1"/>
          </p:cNvSpPr>
          <p:nvPr>
            <p:ph type="ftr" sz="quarter" idx="11"/>
          </p:nvPr>
        </p:nvSpPr>
        <p:spPr>
          <a:ln/>
        </p:spPr>
        <p:txBody>
          <a:bodyPr/>
          <a:lstStyle>
            <a:lvl1pPr>
              <a:defRPr/>
            </a:lvl1pPr>
          </a:lstStyle>
          <a:p>
            <a:pPr>
              <a:defRPr/>
            </a:pPr>
            <a:endParaRPr lang="de-DE"/>
          </a:p>
        </p:txBody>
      </p:sp>
      <p:sp>
        <p:nvSpPr>
          <p:cNvPr id="7" name="Rectangle 6">
            <a:extLst>
              <a:ext uri="{FF2B5EF4-FFF2-40B4-BE49-F238E27FC236}">
                <a16:creationId xmlns:a16="http://schemas.microsoft.com/office/drawing/2014/main" id="{5B3ED498-C12D-D999-3B20-FB3300078F8B}"/>
              </a:ext>
            </a:extLst>
          </p:cNvPr>
          <p:cNvSpPr>
            <a:spLocks noGrp="1" noChangeArrowheads="1"/>
          </p:cNvSpPr>
          <p:nvPr>
            <p:ph type="sldNum" sz="quarter" idx="12"/>
          </p:nvPr>
        </p:nvSpPr>
        <p:spPr>
          <a:ln/>
        </p:spPr>
        <p:txBody>
          <a:bodyPr/>
          <a:lstStyle>
            <a:lvl1pPr>
              <a:defRPr/>
            </a:lvl1pPr>
          </a:lstStyle>
          <a:p>
            <a:fld id="{30C558BF-F187-E04B-9BC5-05A7498E1322}" type="slidenum">
              <a:rPr lang="de-DE" altLang="en-US"/>
              <a:pPr/>
              <a:t>‹#›</a:t>
            </a:fld>
            <a:endParaRPr lang="de-DE" altLang="en-US"/>
          </a:p>
        </p:txBody>
      </p:sp>
    </p:spTree>
    <p:extLst>
      <p:ext uri="{BB962C8B-B14F-4D97-AF65-F5344CB8AC3E}">
        <p14:creationId xmlns:p14="http://schemas.microsoft.com/office/powerpoint/2010/main" val="1576405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08B9F273-3BEE-EFD7-422F-3F4B00591602}"/>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7AD8730C-B466-81DD-018C-BA21A2F1CDEE}"/>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F3CF76BA-D194-1EA3-15F6-B173D06DB1A1}"/>
              </a:ext>
            </a:extLst>
          </p:cNvPr>
          <p:cNvSpPr>
            <a:spLocks noGrp="1" noChangeArrowheads="1"/>
          </p:cNvSpPr>
          <p:nvPr>
            <p:ph type="sldNum" sz="quarter" idx="12"/>
          </p:nvPr>
        </p:nvSpPr>
        <p:spPr>
          <a:ln/>
        </p:spPr>
        <p:txBody>
          <a:bodyPr/>
          <a:lstStyle>
            <a:lvl1pPr>
              <a:defRPr/>
            </a:lvl1pPr>
          </a:lstStyle>
          <a:p>
            <a:fld id="{E3B9F8F3-B8D3-AF47-8CFD-D437FF624FAB}" type="slidenum">
              <a:rPr lang="de-DE" altLang="en-US"/>
              <a:pPr/>
              <a:t>‹#›</a:t>
            </a:fld>
            <a:endParaRPr lang="de-DE" altLang="en-US"/>
          </a:p>
        </p:txBody>
      </p:sp>
    </p:spTree>
    <p:extLst>
      <p:ext uri="{BB962C8B-B14F-4D97-AF65-F5344CB8AC3E}">
        <p14:creationId xmlns:p14="http://schemas.microsoft.com/office/powerpoint/2010/main" val="56022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21572281" y="3805239"/>
            <a:ext cx="6433086" cy="34242375"/>
          </a:xfrm>
        </p:spPr>
        <p:txBody>
          <a:bodyPr vert="eaVert"/>
          <a:lstStyle/>
          <a:p>
            <a:r>
              <a:rPr lang="de-DE"/>
              <a:t>Mastertitelformat bearbeiten</a:t>
            </a:r>
          </a:p>
        </p:txBody>
      </p:sp>
      <p:sp>
        <p:nvSpPr>
          <p:cNvPr id="3" name="Vertikaler Textplatzhalter 2"/>
          <p:cNvSpPr>
            <a:spLocks noGrp="1"/>
          </p:cNvSpPr>
          <p:nvPr>
            <p:ph type="body" orient="vert" idx="1"/>
          </p:nvPr>
        </p:nvSpPr>
        <p:spPr>
          <a:xfrm>
            <a:off x="2271436" y="3805239"/>
            <a:ext cx="19148358" cy="342423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a:extLst>
              <a:ext uri="{FF2B5EF4-FFF2-40B4-BE49-F238E27FC236}">
                <a16:creationId xmlns:a16="http://schemas.microsoft.com/office/drawing/2014/main" id="{B851339E-EF6A-CA06-EC5E-41DD06CC29E5}"/>
              </a:ext>
            </a:extLst>
          </p:cNvPr>
          <p:cNvSpPr>
            <a:spLocks noGrp="1" noChangeArrowheads="1"/>
          </p:cNvSpPr>
          <p:nvPr>
            <p:ph type="dt" sz="half" idx="10"/>
          </p:nvPr>
        </p:nvSpPr>
        <p:spPr>
          <a:ln/>
        </p:spPr>
        <p:txBody>
          <a:bodyPr/>
          <a:lstStyle>
            <a:lvl1pPr>
              <a:defRPr/>
            </a:lvl1pPr>
          </a:lstStyle>
          <a:p>
            <a:pPr>
              <a:defRPr/>
            </a:pPr>
            <a:endParaRPr lang="de-DE"/>
          </a:p>
        </p:txBody>
      </p:sp>
      <p:sp>
        <p:nvSpPr>
          <p:cNvPr id="5" name="Rectangle 5">
            <a:extLst>
              <a:ext uri="{FF2B5EF4-FFF2-40B4-BE49-F238E27FC236}">
                <a16:creationId xmlns:a16="http://schemas.microsoft.com/office/drawing/2014/main" id="{12E16CD7-7463-649F-2A88-A7639CFA635B}"/>
              </a:ext>
            </a:extLst>
          </p:cNvPr>
          <p:cNvSpPr>
            <a:spLocks noGrp="1" noChangeArrowheads="1"/>
          </p:cNvSpPr>
          <p:nvPr>
            <p:ph type="ftr" sz="quarter" idx="11"/>
          </p:nvPr>
        </p:nvSpPr>
        <p:spPr>
          <a:ln/>
        </p:spPr>
        <p:txBody>
          <a:bodyPr/>
          <a:lstStyle>
            <a:lvl1pPr>
              <a:defRPr/>
            </a:lvl1pPr>
          </a:lstStyle>
          <a:p>
            <a:pPr>
              <a:defRPr/>
            </a:pPr>
            <a:endParaRPr lang="de-DE"/>
          </a:p>
        </p:txBody>
      </p:sp>
      <p:sp>
        <p:nvSpPr>
          <p:cNvPr id="6" name="Rectangle 6">
            <a:extLst>
              <a:ext uri="{FF2B5EF4-FFF2-40B4-BE49-F238E27FC236}">
                <a16:creationId xmlns:a16="http://schemas.microsoft.com/office/drawing/2014/main" id="{EB4A1226-B4F3-FB01-2191-0CE3A2A3A702}"/>
              </a:ext>
            </a:extLst>
          </p:cNvPr>
          <p:cNvSpPr>
            <a:spLocks noGrp="1" noChangeArrowheads="1"/>
          </p:cNvSpPr>
          <p:nvPr>
            <p:ph type="sldNum" sz="quarter" idx="12"/>
          </p:nvPr>
        </p:nvSpPr>
        <p:spPr>
          <a:ln/>
        </p:spPr>
        <p:txBody>
          <a:bodyPr/>
          <a:lstStyle>
            <a:lvl1pPr>
              <a:defRPr/>
            </a:lvl1pPr>
          </a:lstStyle>
          <a:p>
            <a:fld id="{7C01EEEB-9005-6F42-B21D-35CEA4432628}" type="slidenum">
              <a:rPr lang="de-DE" altLang="en-US"/>
              <a:pPr/>
              <a:t>‹#›</a:t>
            </a:fld>
            <a:endParaRPr lang="de-DE" altLang="en-US"/>
          </a:p>
        </p:txBody>
      </p:sp>
    </p:spTree>
    <p:extLst>
      <p:ext uri="{BB962C8B-B14F-4D97-AF65-F5344CB8AC3E}">
        <p14:creationId xmlns:p14="http://schemas.microsoft.com/office/powerpoint/2010/main" val="2254278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EC56689-E0BE-542A-063E-F17780BB7FC0}"/>
              </a:ext>
            </a:extLst>
          </p:cNvPr>
          <p:cNvSpPr>
            <a:spLocks noGrp="1" noChangeArrowheads="1"/>
          </p:cNvSpPr>
          <p:nvPr>
            <p:ph type="title"/>
          </p:nvPr>
        </p:nvSpPr>
        <p:spPr bwMode="auto">
          <a:xfrm>
            <a:off x="2271713" y="3805238"/>
            <a:ext cx="25733375" cy="71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ctr" anchorCtr="0" compatLnSpc="1">
            <a:prstTxWarp prst="textNoShape">
              <a:avLst/>
            </a:prstTxWarp>
          </a:bodyPr>
          <a:lstStyle/>
          <a:p>
            <a:pPr lvl="0"/>
            <a:r>
              <a:rPr lang="de-DE" altLang="en-US"/>
              <a:t>Mastertitelformat bearbeiten</a:t>
            </a:r>
          </a:p>
        </p:txBody>
      </p:sp>
      <p:sp>
        <p:nvSpPr>
          <p:cNvPr id="1027" name="Rectangle 3">
            <a:extLst>
              <a:ext uri="{FF2B5EF4-FFF2-40B4-BE49-F238E27FC236}">
                <a16:creationId xmlns:a16="http://schemas.microsoft.com/office/drawing/2014/main" id="{EA16AB73-5BDB-46AB-AB38-82E17B2283F4}"/>
              </a:ext>
            </a:extLst>
          </p:cNvPr>
          <p:cNvSpPr>
            <a:spLocks noGrp="1" noChangeArrowheads="1"/>
          </p:cNvSpPr>
          <p:nvPr>
            <p:ph type="body" idx="1"/>
          </p:nvPr>
        </p:nvSpPr>
        <p:spPr bwMode="auto">
          <a:xfrm>
            <a:off x="2271713" y="12365038"/>
            <a:ext cx="25733375" cy="256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17488" tIns="208744" rIns="417488" bIns="208744" numCol="1" anchor="t" anchorCtr="0" compatLnSpc="1">
            <a:prstTxWarp prst="textNoShape">
              <a:avLst/>
            </a:prstTxWarp>
          </a:bodyPr>
          <a:lstStyle/>
          <a:p>
            <a:pPr lvl="0"/>
            <a:r>
              <a:rPr lang="de-DE" altLang="en-US"/>
              <a:t>Mastertextformat bearbeiten</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1028" name="Rectangle 4">
            <a:extLst>
              <a:ext uri="{FF2B5EF4-FFF2-40B4-BE49-F238E27FC236}">
                <a16:creationId xmlns:a16="http://schemas.microsoft.com/office/drawing/2014/main" id="{DA6ABE33-3DB5-C743-982E-132A123A15D1}"/>
              </a:ext>
            </a:extLst>
          </p:cNvPr>
          <p:cNvSpPr>
            <a:spLocks noGrp="1" noChangeArrowheads="1"/>
          </p:cNvSpPr>
          <p:nvPr>
            <p:ph type="dt" sz="half" idx="2"/>
          </p:nvPr>
        </p:nvSpPr>
        <p:spPr bwMode="auto">
          <a:xfrm>
            <a:off x="2271713" y="38998525"/>
            <a:ext cx="6305550"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defRPr sz="6400">
                <a:latin typeface="Arial" charset="0"/>
                <a:ea typeface="ＭＳ Ｐゴシック" pitchFamily="96" charset="-128"/>
                <a:cs typeface="ＭＳ Ｐゴシック" pitchFamily="96" charset="-128"/>
              </a:defRPr>
            </a:lvl1pPr>
          </a:lstStyle>
          <a:p>
            <a:pPr>
              <a:defRPr/>
            </a:pPr>
            <a:endParaRPr lang="de-DE"/>
          </a:p>
        </p:txBody>
      </p:sp>
      <p:sp>
        <p:nvSpPr>
          <p:cNvPr id="1029" name="Rectangle 5">
            <a:extLst>
              <a:ext uri="{FF2B5EF4-FFF2-40B4-BE49-F238E27FC236}">
                <a16:creationId xmlns:a16="http://schemas.microsoft.com/office/drawing/2014/main" id="{AEF744CB-0E83-254A-BBC5-D29F7A330B02}"/>
              </a:ext>
            </a:extLst>
          </p:cNvPr>
          <p:cNvSpPr>
            <a:spLocks noGrp="1" noChangeArrowheads="1"/>
          </p:cNvSpPr>
          <p:nvPr>
            <p:ph type="ftr" sz="quarter" idx="3"/>
          </p:nvPr>
        </p:nvSpPr>
        <p:spPr bwMode="auto">
          <a:xfrm>
            <a:off x="10344150" y="38998525"/>
            <a:ext cx="9586913"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ctr">
              <a:defRPr sz="6400">
                <a:latin typeface="Arial" charset="0"/>
                <a:ea typeface="ＭＳ Ｐゴシック" pitchFamily="96" charset="-128"/>
                <a:cs typeface="ＭＳ Ｐゴシック" pitchFamily="96" charset="-128"/>
              </a:defRPr>
            </a:lvl1pPr>
          </a:lstStyle>
          <a:p>
            <a:pPr>
              <a:defRPr/>
            </a:pPr>
            <a:endParaRPr lang="de-DE"/>
          </a:p>
        </p:txBody>
      </p:sp>
      <p:sp>
        <p:nvSpPr>
          <p:cNvPr id="1030" name="Rectangle 6">
            <a:extLst>
              <a:ext uri="{FF2B5EF4-FFF2-40B4-BE49-F238E27FC236}">
                <a16:creationId xmlns:a16="http://schemas.microsoft.com/office/drawing/2014/main" id="{A6C0CC14-A0FA-F84A-B0A2-30160D910A9B}"/>
              </a:ext>
            </a:extLst>
          </p:cNvPr>
          <p:cNvSpPr>
            <a:spLocks noGrp="1" noChangeArrowheads="1"/>
          </p:cNvSpPr>
          <p:nvPr>
            <p:ph type="sldNum" sz="quarter" idx="4"/>
          </p:nvPr>
        </p:nvSpPr>
        <p:spPr bwMode="auto">
          <a:xfrm>
            <a:off x="21697950" y="38998525"/>
            <a:ext cx="6307138" cy="2854325"/>
          </a:xfrm>
          <a:prstGeom prst="rect">
            <a:avLst/>
          </a:prstGeom>
          <a:noFill/>
          <a:ln w="9525">
            <a:noFill/>
            <a:miter lim="800000"/>
            <a:headEnd/>
            <a:tailEnd/>
          </a:ln>
        </p:spPr>
        <p:txBody>
          <a:bodyPr vert="horz" wrap="square" lIns="417488" tIns="208744" rIns="417488" bIns="208744" numCol="1" anchor="t" anchorCtr="0" compatLnSpc="1">
            <a:prstTxWarp prst="textNoShape">
              <a:avLst/>
            </a:prstTxWarp>
          </a:bodyPr>
          <a:lstStyle>
            <a:lvl1pPr algn="r">
              <a:defRPr sz="6400"/>
            </a:lvl1pPr>
          </a:lstStyle>
          <a:p>
            <a:fld id="{6ADCCD56-346A-DF46-8387-B6EB15B6CF87}" type="slidenum">
              <a:rPr lang="de-DE" altLang="en-US"/>
              <a:pPr/>
              <a:t>‹#›</a:t>
            </a:fld>
            <a:endParaRPr lang="de-DE"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5125" rtl="0" eaLnBrk="0" fontAlgn="base" hangingPunct="0">
        <a:spcBef>
          <a:spcPct val="0"/>
        </a:spcBef>
        <a:spcAft>
          <a:spcPct val="0"/>
        </a:spcAft>
        <a:defRPr sz="20100">
          <a:solidFill>
            <a:schemeClr val="tx2"/>
          </a:solidFill>
          <a:latin typeface="+mj-lt"/>
          <a:ea typeface="+mj-ea"/>
          <a:cs typeface="+mj-cs"/>
        </a:defRPr>
      </a:lvl1pPr>
      <a:lvl2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2pPr>
      <a:lvl3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3pPr>
      <a:lvl4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4pPr>
      <a:lvl5pPr algn="ctr" defTabSz="4175125" rtl="0" eaLnBrk="0" fontAlgn="base" hangingPunct="0">
        <a:spcBef>
          <a:spcPct val="0"/>
        </a:spcBef>
        <a:spcAft>
          <a:spcPct val="0"/>
        </a:spcAft>
        <a:defRPr sz="20100">
          <a:solidFill>
            <a:schemeClr val="tx2"/>
          </a:solidFill>
          <a:latin typeface="Arial" charset="0"/>
          <a:ea typeface="ＭＳ Ｐゴシック" pitchFamily="96" charset="-128"/>
          <a:cs typeface="ＭＳ Ｐゴシック" pitchFamily="96" charset="-128"/>
        </a:defRPr>
      </a:lvl5pPr>
      <a:lvl6pPr marL="4572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6pPr>
      <a:lvl7pPr marL="9144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7pPr>
      <a:lvl8pPr marL="13716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8pPr>
      <a:lvl9pPr marL="1828800" algn="ctr" defTabSz="4175125" rtl="0" fontAlgn="base">
        <a:spcBef>
          <a:spcPct val="0"/>
        </a:spcBef>
        <a:spcAft>
          <a:spcPct val="0"/>
        </a:spcAft>
        <a:defRPr sz="20100">
          <a:solidFill>
            <a:schemeClr val="tx2"/>
          </a:solidFill>
          <a:latin typeface="Arial" charset="0"/>
          <a:ea typeface="ＭＳ Ｐゴシック" pitchFamily="96" charset="-128"/>
          <a:cs typeface="ＭＳ Ｐゴシック" pitchFamily="96" charset="-128"/>
        </a:defRPr>
      </a:lvl9pPr>
    </p:titleStyle>
    <p:bodyStyle>
      <a:lvl1pPr marL="1565275" indent="-1565275" algn="l" defTabSz="4175125" rtl="0" eaLnBrk="0" fontAlgn="base" hangingPunct="0">
        <a:spcBef>
          <a:spcPct val="20000"/>
        </a:spcBef>
        <a:spcAft>
          <a:spcPct val="0"/>
        </a:spcAft>
        <a:buChar char="•"/>
        <a:defRPr sz="14600">
          <a:solidFill>
            <a:schemeClr val="tx1"/>
          </a:solidFill>
          <a:latin typeface="+mn-lt"/>
          <a:ea typeface="+mn-ea"/>
          <a:cs typeface="+mn-cs"/>
        </a:defRPr>
      </a:lvl1pPr>
      <a:lvl2pPr marL="3392488" indent="-1304925" algn="l" defTabSz="4175125" rtl="0" eaLnBrk="0" fontAlgn="base" hangingPunct="0">
        <a:spcBef>
          <a:spcPct val="20000"/>
        </a:spcBef>
        <a:spcAft>
          <a:spcPct val="0"/>
        </a:spcAft>
        <a:buChar char="–"/>
        <a:defRPr sz="12800">
          <a:solidFill>
            <a:schemeClr val="tx1"/>
          </a:solidFill>
          <a:latin typeface="+mn-lt"/>
          <a:ea typeface="+mn-ea"/>
          <a:cs typeface="+mn-cs"/>
        </a:defRPr>
      </a:lvl2pPr>
      <a:lvl3pPr marL="5218113" indent="-1042988" algn="l" defTabSz="4175125" rtl="0" eaLnBrk="0" fontAlgn="base" hangingPunct="0">
        <a:spcBef>
          <a:spcPct val="20000"/>
        </a:spcBef>
        <a:spcAft>
          <a:spcPct val="0"/>
        </a:spcAft>
        <a:buChar char="•"/>
        <a:defRPr sz="11000">
          <a:solidFill>
            <a:schemeClr val="tx1"/>
          </a:solidFill>
          <a:latin typeface="+mn-lt"/>
          <a:ea typeface="+mn-ea"/>
          <a:cs typeface="+mn-cs"/>
        </a:defRPr>
      </a:lvl3pPr>
      <a:lvl4pPr marL="7305675" indent="-1042988" algn="l" defTabSz="4175125" rtl="0" eaLnBrk="0" fontAlgn="base" hangingPunct="0">
        <a:spcBef>
          <a:spcPct val="20000"/>
        </a:spcBef>
        <a:spcAft>
          <a:spcPct val="0"/>
        </a:spcAft>
        <a:buChar char="–"/>
        <a:defRPr sz="9100">
          <a:solidFill>
            <a:schemeClr val="tx1"/>
          </a:solidFill>
          <a:latin typeface="+mn-lt"/>
          <a:ea typeface="+mn-ea"/>
          <a:cs typeface="+mn-cs"/>
        </a:defRPr>
      </a:lvl4pPr>
      <a:lvl5pPr marL="9393238" indent="-1042988" algn="l" defTabSz="4175125" rtl="0" eaLnBrk="0" fontAlgn="base" hangingPunct="0">
        <a:spcBef>
          <a:spcPct val="20000"/>
        </a:spcBef>
        <a:spcAft>
          <a:spcPct val="0"/>
        </a:spcAft>
        <a:buChar char="»"/>
        <a:defRPr sz="9100">
          <a:solidFill>
            <a:schemeClr val="tx1"/>
          </a:solidFill>
          <a:latin typeface="+mn-lt"/>
          <a:ea typeface="+mn-ea"/>
          <a:cs typeface="+mn-cs"/>
        </a:defRPr>
      </a:lvl5pPr>
      <a:lvl6pPr marL="9850438" indent="-1042988" algn="l" defTabSz="4175125" rtl="0" fontAlgn="base">
        <a:spcBef>
          <a:spcPct val="20000"/>
        </a:spcBef>
        <a:spcAft>
          <a:spcPct val="0"/>
        </a:spcAft>
        <a:buChar char="»"/>
        <a:defRPr sz="9100">
          <a:solidFill>
            <a:schemeClr val="tx1"/>
          </a:solidFill>
          <a:latin typeface="+mn-lt"/>
          <a:ea typeface="+mn-ea"/>
          <a:cs typeface="+mn-cs"/>
        </a:defRPr>
      </a:lvl6pPr>
      <a:lvl7pPr marL="10307638" indent="-1042988" algn="l" defTabSz="4175125" rtl="0" fontAlgn="base">
        <a:spcBef>
          <a:spcPct val="20000"/>
        </a:spcBef>
        <a:spcAft>
          <a:spcPct val="0"/>
        </a:spcAft>
        <a:buChar char="»"/>
        <a:defRPr sz="9100">
          <a:solidFill>
            <a:schemeClr val="tx1"/>
          </a:solidFill>
          <a:latin typeface="+mn-lt"/>
          <a:ea typeface="+mn-ea"/>
          <a:cs typeface="+mn-cs"/>
        </a:defRPr>
      </a:lvl7pPr>
      <a:lvl8pPr marL="10764838" indent="-1042988" algn="l" defTabSz="4175125" rtl="0" fontAlgn="base">
        <a:spcBef>
          <a:spcPct val="20000"/>
        </a:spcBef>
        <a:spcAft>
          <a:spcPct val="0"/>
        </a:spcAft>
        <a:buChar char="»"/>
        <a:defRPr sz="9100">
          <a:solidFill>
            <a:schemeClr val="tx1"/>
          </a:solidFill>
          <a:latin typeface="+mn-lt"/>
          <a:ea typeface="+mn-ea"/>
          <a:cs typeface="+mn-cs"/>
        </a:defRPr>
      </a:lvl8pPr>
      <a:lvl9pPr marL="11222038" indent="-1042988" algn="l" defTabSz="4175125" rtl="0" fontAlgn="base">
        <a:spcBef>
          <a:spcPct val="20000"/>
        </a:spcBef>
        <a:spcAft>
          <a:spcPct val="0"/>
        </a:spcAft>
        <a:buChar char="»"/>
        <a:defRPr sz="91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B5848C27-9722-9D45-60D5-6F1C55EC2D6E}"/>
              </a:ext>
            </a:extLst>
          </p:cNvPr>
          <p:cNvSpPr/>
          <p:nvPr/>
        </p:nvSpPr>
        <p:spPr bwMode="auto">
          <a:xfrm>
            <a:off x="27522982" y="12112849"/>
            <a:ext cx="1592238" cy="12537168"/>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62" name="Rectangle 61">
            <a:extLst>
              <a:ext uri="{FF2B5EF4-FFF2-40B4-BE49-F238E27FC236}">
                <a16:creationId xmlns:a16="http://schemas.microsoft.com/office/drawing/2014/main" id="{09D5A6E7-C78D-5437-6CFE-782059B48B2D}"/>
              </a:ext>
            </a:extLst>
          </p:cNvPr>
          <p:cNvSpPr/>
          <p:nvPr/>
        </p:nvSpPr>
        <p:spPr bwMode="auto">
          <a:xfrm>
            <a:off x="23634550" y="12133015"/>
            <a:ext cx="2088233"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51" name="Rectangle 50">
            <a:extLst>
              <a:ext uri="{FF2B5EF4-FFF2-40B4-BE49-F238E27FC236}">
                <a16:creationId xmlns:a16="http://schemas.microsoft.com/office/drawing/2014/main" id="{FE9EC296-1D29-9AB8-3E57-3D02E9E75177}"/>
              </a:ext>
            </a:extLst>
          </p:cNvPr>
          <p:cNvSpPr/>
          <p:nvPr/>
        </p:nvSpPr>
        <p:spPr bwMode="auto">
          <a:xfrm>
            <a:off x="19977314" y="13136755"/>
            <a:ext cx="2747641" cy="1151326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50" name="Rectangle 49">
            <a:extLst>
              <a:ext uri="{FF2B5EF4-FFF2-40B4-BE49-F238E27FC236}">
                <a16:creationId xmlns:a16="http://schemas.microsoft.com/office/drawing/2014/main" id="{F77E7CC4-0D9B-C7EB-9C82-8D2D4AEF2236}"/>
              </a:ext>
            </a:extLst>
          </p:cNvPr>
          <p:cNvSpPr/>
          <p:nvPr/>
        </p:nvSpPr>
        <p:spPr bwMode="auto">
          <a:xfrm>
            <a:off x="18362809" y="12133015"/>
            <a:ext cx="1168700"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endParaRPr>
          </a:p>
        </p:txBody>
      </p:sp>
      <p:sp>
        <p:nvSpPr>
          <p:cNvPr id="48" name="Rectangle 47">
            <a:extLst>
              <a:ext uri="{FF2B5EF4-FFF2-40B4-BE49-F238E27FC236}">
                <a16:creationId xmlns:a16="http://schemas.microsoft.com/office/drawing/2014/main" id="{5CEA33D2-CADF-3DC8-2E84-BB55BFF6AE1C}"/>
              </a:ext>
            </a:extLst>
          </p:cNvPr>
          <p:cNvSpPr/>
          <p:nvPr/>
        </p:nvSpPr>
        <p:spPr bwMode="auto">
          <a:xfrm>
            <a:off x="16217726" y="12133017"/>
            <a:ext cx="864096" cy="12517002"/>
          </a:xfrm>
          <a:prstGeom prst="rect">
            <a:avLst/>
          </a:prstGeom>
          <a:solidFill>
            <a:schemeClr val="bg1">
              <a:lumMod val="95000"/>
            </a:schemeClr>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H" sz="2400" b="0" i="0" u="none" strike="noStrike" cap="none" normalizeH="0" baseline="0" dirty="0">
              <a:ln>
                <a:noFill/>
              </a:ln>
              <a:solidFill>
                <a:schemeClr val="tx1"/>
              </a:solidFill>
              <a:effectLst/>
              <a:latin typeface="Arial" charset="0"/>
              <a:ea typeface="ＭＳ Ｐゴシック" pitchFamily="96" charset="-128"/>
              <a:cs typeface="ＭＳ Ｐゴシック" pitchFamily="96" charset="-128"/>
            </a:endParaRPr>
          </a:p>
        </p:txBody>
      </p:sp>
      <p:sp>
        <p:nvSpPr>
          <p:cNvPr id="23" name="TextBox 22">
            <a:extLst>
              <a:ext uri="{FF2B5EF4-FFF2-40B4-BE49-F238E27FC236}">
                <a16:creationId xmlns:a16="http://schemas.microsoft.com/office/drawing/2014/main" id="{9EC6A6AC-2699-263D-DCA6-CCBDE32F4D72}"/>
              </a:ext>
            </a:extLst>
          </p:cNvPr>
          <p:cNvSpPr txBox="1"/>
          <p:nvPr/>
        </p:nvSpPr>
        <p:spPr>
          <a:xfrm>
            <a:off x="1028859" y="783168"/>
            <a:ext cx="27698229" cy="3447098"/>
          </a:xfrm>
          <a:prstGeom prst="rect">
            <a:avLst/>
          </a:prstGeom>
          <a:noFill/>
        </p:spPr>
        <p:txBody>
          <a:bodyPr wrap="square" rtlCol="0">
            <a:spAutoFit/>
          </a:bodyPr>
          <a:lstStyle/>
          <a:p>
            <a:pPr lvl="0"/>
            <a:r>
              <a:rPr lang="en-US" sz="6600" b="1" dirty="0">
                <a:latin typeface="Arial Black" panose="020B0604020202020204" pitchFamily="34" charset="0"/>
                <a:cs typeface="Arial Black" panose="020B0604020202020204" pitchFamily="34" charset="0"/>
              </a:rPr>
              <a:t>Functional Connectivity during Emotional Video viewing with Psychotic diagnoses </a:t>
            </a:r>
          </a:p>
          <a:p>
            <a:pPr lvl="0"/>
            <a:r>
              <a:rPr lang="de-DE" altLang="en-US" sz="3200" dirty="0">
                <a:latin typeface="+mn-lt"/>
              </a:rPr>
              <a:t>Li, Judy. X.</a:t>
            </a:r>
            <a:r>
              <a:rPr lang="de-DE" altLang="en-US" sz="3200" baseline="30000" dirty="0">
                <a:latin typeface="+mn-lt"/>
              </a:rPr>
              <a:t>1,2,4</a:t>
            </a:r>
            <a:r>
              <a:rPr lang="de-DE" altLang="en-US" sz="3200" dirty="0">
                <a:latin typeface="+mn-lt"/>
              </a:rPr>
              <a:t>, </a:t>
            </a:r>
            <a:r>
              <a:rPr lang="de-DE" altLang="en-US" sz="3200" dirty="0" err="1">
                <a:latin typeface="+mn-lt"/>
              </a:rPr>
              <a:t>Jeganathan</a:t>
            </a:r>
            <a:r>
              <a:rPr lang="de-DE" altLang="en-US" sz="3200" dirty="0">
                <a:latin typeface="+mn-lt"/>
              </a:rPr>
              <a:t>, Jayson </a:t>
            </a:r>
            <a:r>
              <a:rPr lang="de-DE" altLang="en-US" sz="3200" baseline="30000" dirty="0">
                <a:latin typeface="+mn-lt"/>
              </a:rPr>
              <a:t>1</a:t>
            </a:r>
            <a:r>
              <a:rPr lang="de-DE" altLang="en-US" sz="3200" dirty="0">
                <a:latin typeface="+mn-lt"/>
              </a:rPr>
              <a:t>, </a:t>
            </a:r>
            <a:r>
              <a:rPr lang="de-DE" altLang="en-US" sz="3200" dirty="0" err="1">
                <a:latin typeface="+mn-lt"/>
              </a:rPr>
              <a:t>Sonkusare</a:t>
            </a:r>
            <a:r>
              <a:rPr lang="de-DE" altLang="en-US" sz="3200" dirty="0">
                <a:latin typeface="+mn-lt"/>
              </a:rPr>
              <a:t>, </a:t>
            </a:r>
            <a:r>
              <a:rPr lang="de-DE" altLang="en-US" sz="3200" dirty="0" err="1">
                <a:latin typeface="+mn-lt"/>
              </a:rPr>
              <a:t>Saurabh</a:t>
            </a:r>
            <a:r>
              <a:rPr lang="de-DE" altLang="en-US" sz="3200" dirty="0">
                <a:latin typeface="+mn-lt"/>
              </a:rPr>
              <a:t> </a:t>
            </a:r>
            <a:r>
              <a:rPr lang="de-DE" altLang="en-US" sz="3200" baseline="30000" dirty="0">
                <a:latin typeface="+mn-lt"/>
              </a:rPr>
              <a:t>2</a:t>
            </a:r>
            <a:r>
              <a:rPr lang="de-DE" altLang="en-US" sz="3200" dirty="0">
                <a:latin typeface="+mn-lt"/>
              </a:rPr>
              <a:t>, Paton, Bryan </a:t>
            </a:r>
            <a:r>
              <a:rPr lang="de-DE" altLang="en-US" sz="3200" baseline="30000" dirty="0">
                <a:latin typeface="+mn-lt"/>
              </a:rPr>
              <a:t>3,4,5</a:t>
            </a:r>
            <a:r>
              <a:rPr lang="de-DE" altLang="en-US" sz="3200" dirty="0">
                <a:latin typeface="+mn-lt"/>
              </a:rPr>
              <a:t>, </a:t>
            </a:r>
            <a:r>
              <a:rPr lang="de-DE" altLang="en-US" sz="3200" dirty="0" err="1">
                <a:latin typeface="+mn-lt"/>
              </a:rPr>
              <a:t>Luchow</a:t>
            </a:r>
            <a:r>
              <a:rPr lang="de-DE" altLang="en-US" sz="3200" dirty="0">
                <a:latin typeface="+mn-lt"/>
              </a:rPr>
              <a:t>, </a:t>
            </a:r>
            <a:r>
              <a:rPr lang="de-DE" altLang="en-US" sz="3200" dirty="0" err="1">
                <a:latin typeface="+mn-lt"/>
              </a:rPr>
              <a:t>Shiami</a:t>
            </a:r>
            <a:r>
              <a:rPr lang="de-DE" altLang="en-US" sz="3200" dirty="0">
                <a:latin typeface="+mn-lt"/>
              </a:rPr>
              <a:t> </a:t>
            </a:r>
            <a:r>
              <a:rPr lang="de-DE" altLang="en-US" sz="3200" baseline="30000" dirty="0">
                <a:latin typeface="+mn-lt"/>
              </a:rPr>
              <a:t>4</a:t>
            </a:r>
            <a:r>
              <a:rPr lang="de-DE" altLang="en-US" sz="3200" dirty="0">
                <a:latin typeface="+mn-lt"/>
              </a:rPr>
              <a:t>, </a:t>
            </a:r>
            <a:r>
              <a:rPr lang="de-DE" altLang="en-US" sz="3200" dirty="0" err="1">
                <a:latin typeface="+mn-lt"/>
              </a:rPr>
              <a:t>Breakspear</a:t>
            </a:r>
            <a:r>
              <a:rPr lang="de-DE" altLang="en-US" sz="3200" dirty="0">
                <a:latin typeface="+mn-lt"/>
              </a:rPr>
              <a:t>, Michael </a:t>
            </a:r>
            <a:r>
              <a:rPr lang="de-DE" altLang="en-US" sz="3200" baseline="30000" dirty="0">
                <a:latin typeface="+mn-lt"/>
              </a:rPr>
              <a:t>3,4</a:t>
            </a:r>
            <a:r>
              <a:rPr lang="de-DE" altLang="en-US" sz="3200" dirty="0">
                <a:latin typeface="+mn-lt"/>
              </a:rPr>
              <a:t>, Wellstein, Katharina .V.</a:t>
            </a:r>
            <a:r>
              <a:rPr lang="de-DE" altLang="en-US" sz="3200" baseline="30000" dirty="0">
                <a:latin typeface="+mn-lt"/>
              </a:rPr>
              <a:t>3,4</a:t>
            </a:r>
          </a:p>
          <a:p>
            <a:pPr lvl="0"/>
            <a:endParaRPr lang="de-DE" altLang="en-US" sz="1800" dirty="0">
              <a:latin typeface="+mn-lt"/>
            </a:endParaRPr>
          </a:p>
          <a:p>
            <a:pPr lvl="0"/>
            <a:r>
              <a:rPr lang="en-US" altLang="en-US" sz="1800" baseline="30000" dirty="0">
                <a:latin typeface="+mn-lt"/>
              </a:rPr>
              <a:t>1 </a:t>
            </a:r>
            <a:r>
              <a:rPr lang="en-US" altLang="en-US" sz="1800" dirty="0">
                <a:latin typeface="+mn-lt"/>
              </a:rPr>
              <a:t>John Hunter Hospital, Hunter New England Local Health District, Australia</a:t>
            </a:r>
            <a:r>
              <a:rPr lang="de-DE" altLang="en-US" sz="1800" dirty="0">
                <a:latin typeface="+mn-lt"/>
              </a:rPr>
              <a:t>, </a:t>
            </a:r>
            <a:r>
              <a:rPr lang="en-US" altLang="en-US" sz="1800" baseline="30000" dirty="0">
                <a:latin typeface="+mn-lt"/>
              </a:rPr>
              <a:t>2</a:t>
            </a:r>
            <a:r>
              <a:rPr lang="en-US" altLang="en-US" sz="1800" dirty="0">
                <a:latin typeface="+mn-lt"/>
              </a:rPr>
              <a:t> University of Sydney, Sydney, Australia</a:t>
            </a:r>
            <a:r>
              <a:rPr lang="de-DE" altLang="en-US" sz="1800" dirty="0">
                <a:latin typeface="+mn-lt"/>
              </a:rPr>
              <a:t>, </a:t>
            </a:r>
            <a:r>
              <a:rPr lang="en-US" altLang="en-US" sz="1800" baseline="30000" dirty="0">
                <a:latin typeface="+mn-lt"/>
              </a:rPr>
              <a:t>3</a:t>
            </a:r>
            <a:r>
              <a:rPr lang="en-US" altLang="en-US" sz="1800" dirty="0">
                <a:latin typeface="+mn-lt"/>
              </a:rPr>
              <a:t> University of Newcastle, Newcastle, Australia</a:t>
            </a:r>
            <a:r>
              <a:rPr lang="de-DE" altLang="en-US" sz="1800" dirty="0">
                <a:latin typeface="+mn-lt"/>
              </a:rPr>
              <a:t>, </a:t>
            </a:r>
            <a:r>
              <a:rPr lang="en-US" altLang="en-US" sz="1800" baseline="30000" dirty="0">
                <a:latin typeface="+mn-lt"/>
              </a:rPr>
              <a:t>4</a:t>
            </a:r>
            <a:r>
              <a:rPr lang="en-US" altLang="en-US" sz="1800" dirty="0">
                <a:latin typeface="+mn-lt"/>
              </a:rPr>
              <a:t> Hunter Medical Research Institute, Newcastle, Australia</a:t>
            </a:r>
            <a:r>
              <a:rPr lang="de-DE" altLang="en-US" sz="1800" dirty="0">
                <a:latin typeface="+mn-lt"/>
              </a:rPr>
              <a:t>, </a:t>
            </a:r>
            <a:r>
              <a:rPr lang="en-US" altLang="en-US" sz="1800" baseline="30000" dirty="0">
                <a:latin typeface="+mn-lt"/>
              </a:rPr>
              <a:t>5</a:t>
            </a:r>
            <a:r>
              <a:rPr lang="en-US" altLang="en-US" sz="1800" dirty="0">
                <a:latin typeface="+mn-lt"/>
              </a:rPr>
              <a:t>  Mark Hughes Foundation Centre for Brain Cancer Research, University of Newcastle, NSW, 2308, Australia.</a:t>
            </a:r>
            <a:endParaRPr lang="de-DE" altLang="en-US" sz="9600" dirty="0"/>
          </a:p>
        </p:txBody>
      </p:sp>
      <p:sp>
        <p:nvSpPr>
          <p:cNvPr id="27" name="TextBox 26">
            <a:extLst>
              <a:ext uri="{FF2B5EF4-FFF2-40B4-BE49-F238E27FC236}">
                <a16:creationId xmlns:a16="http://schemas.microsoft.com/office/drawing/2014/main" id="{8693ED6D-8EAB-C39B-76A1-105D59CF4AC0}"/>
              </a:ext>
            </a:extLst>
          </p:cNvPr>
          <p:cNvSpPr txBox="1"/>
          <p:nvPr/>
        </p:nvSpPr>
        <p:spPr>
          <a:xfrm>
            <a:off x="9940282" y="34698193"/>
            <a:ext cx="9495291" cy="7478970"/>
          </a:xfrm>
          <a:prstGeom prst="rect">
            <a:avLst/>
          </a:prstGeom>
          <a:noFill/>
        </p:spPr>
        <p:txBody>
          <a:bodyPr wrap="square" rtlCol="0">
            <a:spAutoFit/>
          </a:bodyPr>
          <a:lstStyle/>
          <a:p>
            <a:pPr algn="just"/>
            <a:endParaRPr lang="en-US" dirty="0"/>
          </a:p>
          <a:p>
            <a:pPr algn="just"/>
            <a:r>
              <a:rPr lang="en-US" dirty="0"/>
              <a:t>investigation and treatment formulation.</a:t>
            </a:r>
            <a:r>
              <a:rPr lang="en-AU" dirty="0"/>
              <a:t> </a:t>
            </a:r>
          </a:p>
          <a:p>
            <a:pPr algn="just"/>
            <a:endParaRPr lang="en-AU" dirty="0"/>
          </a:p>
          <a:p>
            <a:pPr algn="just"/>
            <a:r>
              <a:rPr lang="en-US" dirty="0"/>
              <a:t>In our first preliminary analysis, we found promising indications of differences in functional connectivity during video-viewing which did not pass a false discovery rate correction.</a:t>
            </a:r>
          </a:p>
          <a:p>
            <a:pPr algn="just"/>
            <a:endParaRPr lang="en-US" dirty="0"/>
          </a:p>
          <a:p>
            <a:pPr algn="just"/>
            <a:r>
              <a:rPr lang="en-US" dirty="0"/>
              <a:t>Additionally, our current model does not show any difference in transition probabilities across states. On a conceptual level, this finding is erroneous and points to potential hidden issues in our modelling process.</a:t>
            </a:r>
          </a:p>
          <a:p>
            <a:pPr algn="just"/>
            <a:endParaRPr lang="en-US" dirty="0"/>
          </a:p>
          <a:p>
            <a:pPr algn="just"/>
            <a:r>
              <a:rPr lang="en-AU" dirty="0"/>
              <a:t>Further work needs to be conducted to investigate the validity of our preliminary findings. We will revisit our parameters underlying the HMM-MAR, and continue to analyse other outputs (heart rate, switching rate) in correlation with clinical scoring (PANSS).</a:t>
            </a:r>
          </a:p>
          <a:p>
            <a:pPr algn="just"/>
            <a:r>
              <a:rPr lang="en-AU" dirty="0"/>
              <a:t>Here, we find that the main difference in brain state expression arises from happiness, sadness, fear and disgust. Further interpretation of the brain states and correlation with the video segments could be</a:t>
            </a:r>
          </a:p>
        </p:txBody>
      </p:sp>
      <p:sp>
        <p:nvSpPr>
          <p:cNvPr id="28" name="TextBox 27">
            <a:extLst>
              <a:ext uri="{FF2B5EF4-FFF2-40B4-BE49-F238E27FC236}">
                <a16:creationId xmlns:a16="http://schemas.microsoft.com/office/drawing/2014/main" id="{14F5C74F-A626-32DF-BB0B-DE33DA450F4A}"/>
              </a:ext>
            </a:extLst>
          </p:cNvPr>
          <p:cNvSpPr txBox="1"/>
          <p:nvPr/>
        </p:nvSpPr>
        <p:spPr>
          <a:xfrm>
            <a:off x="20248352" y="34941899"/>
            <a:ext cx="9088288" cy="7171194"/>
          </a:xfrm>
          <a:prstGeom prst="rect">
            <a:avLst/>
          </a:prstGeom>
          <a:noFill/>
        </p:spPr>
        <p:txBody>
          <a:bodyPr wrap="square" rtlCol="0">
            <a:spAutoFit/>
          </a:bodyPr>
          <a:lstStyle/>
          <a:p>
            <a:r>
              <a:rPr lang="en-AU" dirty="0"/>
              <a:t>completed, leading to new direction for further investigation into emotional processing.</a:t>
            </a:r>
            <a:endParaRPr lang="en-US" b="1" dirty="0"/>
          </a:p>
          <a:p>
            <a:endParaRPr lang="en-US" b="1" dirty="0"/>
          </a:p>
          <a:p>
            <a:r>
              <a:rPr lang="en-US" b="1" dirty="0"/>
              <a:t>REFERENCES</a:t>
            </a:r>
          </a:p>
          <a:p>
            <a:endParaRPr lang="en-US" sz="1600" b="1" dirty="0"/>
          </a:p>
          <a:p>
            <a:pPr algn="just"/>
            <a:r>
              <a:rPr lang="en-AU" sz="1200" dirty="0"/>
              <a:t>1.	Correll, C.U. and N.R. Schooler, </a:t>
            </a:r>
            <a:r>
              <a:rPr lang="en-AU" sz="1200" i="1" dirty="0"/>
              <a:t>Negative symptoms in schizophrenia: a review and clinical guide for recognition, 	assessment, and treatment.</a:t>
            </a:r>
            <a:r>
              <a:rPr lang="en-AU" sz="1200" dirty="0"/>
              <a:t> Neuropsychiatric 	disease and treatment, 2020: p. 519 534.</a:t>
            </a:r>
          </a:p>
          <a:p>
            <a:pPr algn="just"/>
            <a:r>
              <a:rPr lang="en-AU" sz="1200" dirty="0"/>
              <a:t>2.	Yao, B. and K. Thakkar, </a:t>
            </a:r>
            <a:r>
              <a:rPr lang="en-AU" sz="1200" i="1" dirty="0"/>
              <a:t>Interoception abnormalities in schizophrenia: A review of preliminary evidence and an 	integration with Bayesian accounts of psychosis.</a:t>
            </a:r>
            <a:r>
              <a:rPr lang="en-AU" sz="1200" dirty="0"/>
              <a:t> 	Neuroscience &amp; Biobehavioral Reviews, 2022. </a:t>
            </a:r>
            <a:r>
              <a:rPr lang="en-AU" sz="1200" b="1" dirty="0"/>
              <a:t>132</a:t>
            </a:r>
            <a:r>
              <a:rPr lang="en-AU" sz="1200" dirty="0"/>
              <a:t>: p. 757-773.</a:t>
            </a:r>
          </a:p>
          <a:p>
            <a:pPr algn="just"/>
            <a:r>
              <a:rPr lang="en-AU" sz="1200" dirty="0"/>
              <a:t>3.	Wylie, K.P. and J.R. Tregellas, </a:t>
            </a:r>
            <a:r>
              <a:rPr lang="en-AU" sz="1200" i="1" dirty="0"/>
              <a:t>The role of the insula in schizophrenia.</a:t>
            </a:r>
            <a:r>
              <a:rPr lang="en-AU" sz="1200" dirty="0"/>
              <a:t> Schizophrenia research, 2010. </a:t>
            </a:r>
            <a:r>
              <a:rPr lang="en-AU" sz="1200" b="1" dirty="0"/>
              <a:t>123</a:t>
            </a:r>
            <a:r>
              <a:rPr lang="en-AU" sz="1200" dirty="0"/>
              <a:t>(2-3): p. 93-	104.</a:t>
            </a:r>
          </a:p>
          <a:p>
            <a:pPr algn="just"/>
            <a:r>
              <a:rPr lang="en-AU" sz="1200" dirty="0"/>
              <a:t>4.	Finn, E.S. and P.A. </a:t>
            </a:r>
            <a:r>
              <a:rPr lang="en-AU" sz="1200" dirty="0" err="1"/>
              <a:t>Bandettini</a:t>
            </a:r>
            <a:r>
              <a:rPr lang="en-AU" sz="1200" dirty="0"/>
              <a:t>, </a:t>
            </a:r>
            <a:r>
              <a:rPr lang="en-AU" sz="1200" i="1" dirty="0"/>
              <a:t>Movie-watching outperforms rest for functional connectivity-based prediction of 	</a:t>
            </a:r>
            <a:r>
              <a:rPr lang="en-AU" sz="1200" i="1" dirty="0" err="1"/>
              <a:t>behavior</a:t>
            </a:r>
            <a:r>
              <a:rPr lang="en-AU" sz="1200" i="1" dirty="0"/>
              <a:t>.</a:t>
            </a:r>
            <a:r>
              <a:rPr lang="en-AU" sz="1200" dirty="0"/>
              <a:t> </a:t>
            </a:r>
            <a:r>
              <a:rPr lang="en-AU" sz="1200" dirty="0" err="1"/>
              <a:t>NeuroImage</a:t>
            </a:r>
            <a:r>
              <a:rPr lang="en-AU" sz="1200" dirty="0"/>
              <a:t>, 2021. </a:t>
            </a:r>
            <a:r>
              <a:rPr lang="en-AU" sz="1200" b="1" dirty="0"/>
              <a:t>235</a:t>
            </a:r>
            <a:r>
              <a:rPr lang="en-AU" sz="1200" dirty="0"/>
              <a:t>: p. 117963.</a:t>
            </a:r>
          </a:p>
          <a:p>
            <a:pPr algn="just"/>
            <a:r>
              <a:rPr lang="en-AU" sz="1200" dirty="0"/>
              <a:t>5.	</a:t>
            </a:r>
            <a:r>
              <a:rPr lang="en-AU" sz="1200" dirty="0" err="1"/>
              <a:t>Sonkusare</a:t>
            </a:r>
            <a:r>
              <a:rPr lang="en-AU" sz="1200" dirty="0"/>
              <a:t>, S., M. Breakspear, and C. Guo, </a:t>
            </a:r>
            <a:r>
              <a:rPr lang="en-AU" sz="1200" i="1" dirty="0"/>
              <a:t>Naturalistic Stimuli in Neuroscience: Critically Acclaimed.</a:t>
            </a:r>
            <a:r>
              <a:rPr lang="en-AU" sz="1200" dirty="0"/>
              <a:t> Trends in 	Cognitive Sciences, 2019. </a:t>
            </a:r>
            <a:r>
              <a:rPr lang="en-AU" sz="1200" b="1" dirty="0"/>
              <a:t>23</a:t>
            </a:r>
            <a:r>
              <a:rPr lang="en-AU" sz="1200" dirty="0"/>
              <a:t>(8): p. 699-714.</a:t>
            </a:r>
          </a:p>
          <a:p>
            <a:pPr algn="just"/>
            <a:r>
              <a:rPr lang="en-AU" sz="1200" dirty="0"/>
              <a:t>6.	Li, X., et al., </a:t>
            </a:r>
            <a:r>
              <a:rPr lang="en-AU" sz="1200" i="1" dirty="0"/>
              <a:t>Decreased intersubject synchrony in dynamic valence ratings of sad movie contents in dysphoric 	individuals.</a:t>
            </a:r>
            <a:r>
              <a:rPr lang="en-AU" sz="1200" dirty="0"/>
              <a:t> Scientific Reports, 2021. </a:t>
            </a:r>
            <a:r>
              <a:rPr lang="en-AU" sz="1200" b="1" dirty="0"/>
              <a:t>11</a:t>
            </a:r>
            <a:r>
              <a:rPr lang="en-AU" sz="1200" dirty="0"/>
              <a:t>(1): p. 14419.</a:t>
            </a:r>
          </a:p>
          <a:p>
            <a:pPr algn="just"/>
            <a:r>
              <a:rPr lang="en-AU" sz="1200" dirty="0"/>
              <a:t>7.	Tu, P.-C., et al., </a:t>
            </a:r>
            <a:r>
              <a:rPr lang="en-AU" sz="1200" i="1" dirty="0"/>
              <a:t>Reduced synchronized brain activity in schizophrenia during viewing of comedy movies.</a:t>
            </a:r>
            <a:r>
              <a:rPr lang="en-AU" sz="1200" dirty="0"/>
              <a:t> Scientific 	Reports, 2019. </a:t>
            </a:r>
            <a:r>
              <a:rPr lang="en-AU" sz="1200" b="1" dirty="0"/>
              <a:t>9</a:t>
            </a:r>
            <a:r>
              <a:rPr lang="en-AU" sz="1200" dirty="0"/>
              <a:t>(1): p. 12738.</a:t>
            </a:r>
          </a:p>
          <a:p>
            <a:pPr algn="just"/>
            <a:r>
              <a:rPr lang="en-AU" sz="1200" dirty="0"/>
              <a:t>8.	Ou, J., et al., </a:t>
            </a:r>
            <a:r>
              <a:rPr lang="en-AU" sz="1200" i="1" dirty="0"/>
              <a:t>Characterizing and differentiating brain state dynamics via hidden Markov models.</a:t>
            </a:r>
            <a:r>
              <a:rPr lang="en-AU" sz="1200" dirty="0"/>
              <a:t> Brain topography, 	2015. </a:t>
            </a:r>
            <a:r>
              <a:rPr lang="en-AU" sz="1200" b="1" dirty="0"/>
              <a:t>28</a:t>
            </a:r>
            <a:r>
              <a:rPr lang="en-AU" sz="1200" dirty="0"/>
              <a:t>: p. 666-679.</a:t>
            </a:r>
          </a:p>
          <a:p>
            <a:pPr algn="just"/>
            <a:r>
              <a:rPr lang="en-AU" sz="1200" dirty="0"/>
              <a:t>9.	</a:t>
            </a:r>
            <a:r>
              <a:rPr lang="en-AU" sz="1200" dirty="0" err="1"/>
              <a:t>Kottaram</a:t>
            </a:r>
            <a:r>
              <a:rPr lang="en-AU" sz="1200" dirty="0"/>
              <a:t>, A., et al., </a:t>
            </a:r>
            <a:r>
              <a:rPr lang="en-AU" sz="1200" i="1" dirty="0"/>
              <a:t>Brain network dynamics in schizophrenia: Reduced dynamism of the default mode network.</a:t>
            </a:r>
            <a:r>
              <a:rPr lang="en-AU" sz="1200" dirty="0"/>
              <a:t> 	Human brain mapping, 2019. </a:t>
            </a:r>
            <a:r>
              <a:rPr lang="en-AU" sz="1200" b="1" dirty="0"/>
              <a:t>40</a:t>
            </a:r>
            <a:r>
              <a:rPr lang="en-AU" sz="1200" dirty="0"/>
              <a:t>(7): p. 2212-2228.</a:t>
            </a:r>
          </a:p>
          <a:p>
            <a:pPr marL="228600" indent="-228600" algn="just">
              <a:buAutoNum type="arabicPeriod" startAt="10"/>
            </a:pPr>
            <a:r>
              <a:rPr lang="en-AU" sz="1200" dirty="0"/>
              <a:t>                </a:t>
            </a:r>
            <a:r>
              <a:rPr lang="en-AU" sz="1200" dirty="0" err="1"/>
              <a:t>Mavadati</a:t>
            </a:r>
            <a:r>
              <a:rPr lang="en-AU" sz="1200" dirty="0"/>
              <a:t>, S.M., et al., </a:t>
            </a:r>
            <a:r>
              <a:rPr lang="en-AU" sz="1200" i="1" dirty="0"/>
              <a:t>DISFA: A Spontaneous Facial Action Intensity Database.</a:t>
            </a:r>
            <a:r>
              <a:rPr lang="en-AU" sz="1200" dirty="0"/>
              <a:t> IEEE Transactions on Affective 	Computing, 2013. </a:t>
            </a:r>
            <a:r>
              <a:rPr lang="en-AU" sz="1200" b="1" dirty="0"/>
              <a:t>4</a:t>
            </a:r>
            <a:r>
              <a:rPr lang="en-AU" sz="1200" dirty="0"/>
              <a:t>(2): p. 151-160.</a:t>
            </a:r>
          </a:p>
          <a:p>
            <a:pPr marL="228600" indent="-228600" algn="just">
              <a:buFontTx/>
              <a:buAutoNum type="arabicPeriod" startAt="10"/>
            </a:pPr>
            <a:r>
              <a:rPr lang="en-US" altLang="en-US" sz="1200" dirty="0">
                <a:solidFill>
                  <a:srgbClr val="1B1B1B"/>
                </a:solidFill>
                <a:ea typeface="Roboto Mono Web"/>
              </a:rPr>
              <a:t>                Yeo BT, </a:t>
            </a:r>
            <a:r>
              <a:rPr lang="en-US" altLang="en-US" sz="1200" dirty="0" err="1">
                <a:solidFill>
                  <a:srgbClr val="1B1B1B"/>
                </a:solidFill>
                <a:ea typeface="Roboto Mono Web"/>
              </a:rPr>
              <a:t>Krienen</a:t>
            </a:r>
            <a:r>
              <a:rPr lang="en-US" altLang="en-US" sz="1200" dirty="0">
                <a:solidFill>
                  <a:srgbClr val="1B1B1B"/>
                </a:solidFill>
                <a:ea typeface="Roboto Mono Web"/>
              </a:rPr>
              <a:t> FM, </a:t>
            </a:r>
            <a:r>
              <a:rPr lang="en-US" altLang="en-US" sz="1200" dirty="0" err="1">
                <a:solidFill>
                  <a:srgbClr val="1B1B1B"/>
                </a:solidFill>
                <a:ea typeface="Roboto Mono Web"/>
              </a:rPr>
              <a:t>Sepulcre</a:t>
            </a:r>
            <a:r>
              <a:rPr lang="en-US" altLang="en-US" sz="1200" dirty="0">
                <a:solidFill>
                  <a:srgbClr val="1B1B1B"/>
                </a:solidFill>
                <a:ea typeface="Roboto Mono Web"/>
              </a:rPr>
              <a:t> J, </a:t>
            </a:r>
            <a:r>
              <a:rPr lang="en-US" altLang="en-US" sz="1200" dirty="0" err="1">
                <a:solidFill>
                  <a:srgbClr val="1B1B1B"/>
                </a:solidFill>
                <a:ea typeface="Roboto Mono Web"/>
              </a:rPr>
              <a:t>Sabuncu</a:t>
            </a:r>
            <a:r>
              <a:rPr lang="en-US" altLang="en-US" sz="1200" dirty="0">
                <a:solidFill>
                  <a:srgbClr val="1B1B1B"/>
                </a:solidFill>
                <a:ea typeface="Roboto Mono Web"/>
              </a:rPr>
              <a:t> MR, Lashkari D, Hollinshead M, Roffman JL, Smoller JW, </a:t>
            </a:r>
            <a:r>
              <a:rPr lang="en-US" altLang="en-US" sz="1200" dirty="0" err="1">
                <a:solidFill>
                  <a:srgbClr val="1B1B1B"/>
                </a:solidFill>
                <a:ea typeface="Roboto Mono Web"/>
              </a:rPr>
              <a:t>Zöllei</a:t>
            </a:r>
            <a:r>
              <a:rPr lang="en-US" altLang="en-US" sz="1200" dirty="0">
                <a:solidFill>
                  <a:srgbClr val="1B1B1B"/>
                </a:solidFill>
                <a:ea typeface="Roboto Mono Web"/>
              </a:rPr>
              <a:t> L, Polimeni 	JR, Fischl B, Liu H, Buckner RL. The 	organization of the human cerebral cortex estimated by intrinsic functional 	connectivity. J </a:t>
            </a:r>
            <a:r>
              <a:rPr lang="en-US" altLang="en-US" sz="1200" dirty="0" err="1">
                <a:solidFill>
                  <a:srgbClr val="1B1B1B"/>
                </a:solidFill>
                <a:ea typeface="Roboto Mono Web"/>
              </a:rPr>
              <a:t>Neurophysiol</a:t>
            </a:r>
            <a:r>
              <a:rPr lang="en-US" altLang="en-US" sz="1200" dirty="0">
                <a:solidFill>
                  <a:srgbClr val="1B1B1B"/>
                </a:solidFill>
                <a:ea typeface="Roboto Mono Web"/>
              </a:rPr>
              <a:t>. 2011. </a:t>
            </a:r>
            <a:r>
              <a:rPr lang="en-US" altLang="en-US" sz="1200" b="1" dirty="0">
                <a:solidFill>
                  <a:srgbClr val="1B1B1B"/>
                </a:solidFill>
                <a:ea typeface="Roboto Mono Web"/>
              </a:rPr>
              <a:t>106</a:t>
            </a:r>
            <a:r>
              <a:rPr lang="en-US" altLang="en-US" sz="1200" dirty="0">
                <a:solidFill>
                  <a:srgbClr val="1B1B1B"/>
                </a:solidFill>
                <a:ea typeface="Roboto Mono Web"/>
              </a:rPr>
              <a:t>(3): p. 1125-65.</a:t>
            </a:r>
            <a:endParaRPr lang="en-AU" sz="1200" dirty="0"/>
          </a:p>
          <a:p>
            <a:pPr algn="just"/>
            <a:r>
              <a:rPr lang="en-AU" sz="1200" dirty="0"/>
              <a:t>12.	Vidaurre, D., et al., </a:t>
            </a:r>
            <a:r>
              <a:rPr lang="en-AU" sz="1200" i="1" dirty="0"/>
              <a:t>Spectrally resolved fast transient brain states in electrophysiological data.</a:t>
            </a:r>
            <a:r>
              <a:rPr lang="en-AU" sz="1200" dirty="0"/>
              <a:t> </a:t>
            </a:r>
            <a:r>
              <a:rPr lang="en-AU" sz="1200" dirty="0" err="1"/>
              <a:t>NeuroImage</a:t>
            </a:r>
            <a:r>
              <a:rPr lang="en-AU" sz="1200" dirty="0"/>
              <a:t>, 2016. </a:t>
            </a:r>
            <a:r>
              <a:rPr lang="en-AU" sz="1200" b="1" dirty="0"/>
              <a:t>126</a:t>
            </a:r>
            <a:r>
              <a:rPr lang="en-AU" sz="1200" dirty="0"/>
              <a:t>: 	p. 81-95.</a:t>
            </a:r>
          </a:p>
          <a:p>
            <a:endParaRPr lang="en-US" b="1" dirty="0"/>
          </a:p>
          <a:p>
            <a:endParaRPr lang="en-US" b="1" dirty="0"/>
          </a:p>
        </p:txBody>
      </p:sp>
      <p:sp>
        <p:nvSpPr>
          <p:cNvPr id="34" name="Rectangle 5">
            <a:extLst>
              <a:ext uri="{FF2B5EF4-FFF2-40B4-BE49-F238E27FC236}">
                <a16:creationId xmlns:a16="http://schemas.microsoft.com/office/drawing/2014/main" id="{E1F7E4AD-D580-FC67-0873-97A3F75010A1}"/>
              </a:ext>
            </a:extLst>
          </p:cNvPr>
          <p:cNvSpPr>
            <a:spLocks noChangeArrowheads="1"/>
          </p:cNvSpPr>
          <p:nvPr/>
        </p:nvSpPr>
        <p:spPr bwMode="auto">
          <a:xfrm>
            <a:off x="1280221" y="7062717"/>
            <a:ext cx="114320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9">
            <a:extLst>
              <a:ext uri="{FF2B5EF4-FFF2-40B4-BE49-F238E27FC236}">
                <a16:creationId xmlns:a16="http://schemas.microsoft.com/office/drawing/2014/main" id="{B7A7092E-EA11-BD71-E299-1F2814E52E07}"/>
              </a:ext>
            </a:extLst>
          </p:cNvPr>
          <p:cNvSpPr>
            <a:spLocks noChangeArrowheads="1"/>
          </p:cNvSpPr>
          <p:nvPr/>
        </p:nvSpPr>
        <p:spPr bwMode="auto">
          <a:xfrm>
            <a:off x="1052737" y="4543577"/>
            <a:ext cx="9115200"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b="1" i="0" u="none" strike="noStrike" cap="none" normalizeH="0" baseline="0" noProof="0" dirty="0">
                <a:ln>
                  <a:noFill/>
                </a:ln>
                <a:solidFill>
                  <a:schemeClr val="tx1"/>
                </a:solidFill>
                <a:effectLst/>
                <a:latin typeface="+mn-lt"/>
                <a:cs typeface="Times New Roman" panose="02020603050405020304" pitchFamily="18" charset="0"/>
              </a:rPr>
              <a:t>INTRODUCTION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b="0" i="0" u="none" strike="noStrike" cap="none" normalizeH="0" baseline="0" noProof="0" dirty="0">
              <a:ln>
                <a:noFill/>
              </a:ln>
              <a:solidFill>
                <a:schemeClr val="tx1"/>
              </a:solidFill>
              <a:effectLst/>
              <a:latin typeface="+mn-lt"/>
              <a:cs typeface="Times New Roman" panose="02020603050405020304" pitchFamily="18" charset="0"/>
            </a:endParaRPr>
          </a:p>
          <a:p>
            <a:pPr lvl="0" algn="just"/>
            <a:r>
              <a:rPr lang="en-GB" noProof="0" dirty="0">
                <a:latin typeface="+mn-lt"/>
                <a:cs typeface="Times New Roman" panose="02020603050405020304" pitchFamily="18" charset="0"/>
              </a:rPr>
              <a:t>Emotional processing </a:t>
            </a:r>
            <a:r>
              <a:rPr lang="en-GB" dirty="0">
                <a:latin typeface="+mn-lt"/>
                <a:cs typeface="Times New Roman" panose="02020603050405020304" pitchFamily="18" charset="0"/>
              </a:rPr>
              <a:t>in</a:t>
            </a:r>
            <a:r>
              <a:rPr lang="en-GB" noProof="0" dirty="0">
                <a:latin typeface="+mn-lt"/>
                <a:cs typeface="Times New Roman" panose="02020603050405020304" pitchFamily="18" charset="0"/>
              </a:rPr>
              <a:t> schizophrenia, which is a key feature of negative symptoms, </a:t>
            </a:r>
            <a:r>
              <a:rPr lang="en-GB" dirty="0">
                <a:latin typeface="+mn-lt"/>
                <a:cs typeface="Times New Roman" panose="02020603050405020304" pitchFamily="18" charset="0"/>
              </a:rPr>
              <a:t>is </a:t>
            </a:r>
            <a:r>
              <a:rPr lang="en-GB" noProof="0" dirty="0">
                <a:latin typeface="+mn-lt"/>
                <a:cs typeface="Times New Roman" panose="02020603050405020304" pitchFamily="18" charset="0"/>
              </a:rPr>
              <a:t>poorly understood while negative symptoms form the majority of burden of disease [1]. However, there is an unmet need for effective treatments. Functional neuroimaging, use of natural stimuli, and new connectivity techniques offer a novel way to investigate these symptoms and potentiate treatments. </a:t>
            </a:r>
            <a:r>
              <a:rPr lang="en-GB" noProof="0" dirty="0">
                <a:solidFill>
                  <a:srgbClr val="000000"/>
                </a:solidFill>
                <a:latin typeface="+mn-lt"/>
                <a:cs typeface="Times New Roman" panose="02020603050405020304" pitchFamily="18" charset="0"/>
              </a:rPr>
              <a:t>Evidence links negative symptoms to impairment in emotional neurocognitive processes. [2, 3]. </a:t>
            </a:r>
            <a:endParaRPr lang="en-GB" dirty="0">
              <a:solidFill>
                <a:srgbClr val="000000"/>
              </a:solidFill>
              <a:latin typeface="+mn-lt"/>
              <a:cs typeface="Times New Roman" panose="02020603050405020304" pitchFamily="18" charset="0"/>
            </a:endParaRPr>
          </a:p>
          <a:p>
            <a:pPr lvl="0" algn="just"/>
            <a:r>
              <a:rPr lang="en-GB" noProof="0" dirty="0">
                <a:latin typeface="+mn-lt"/>
                <a:cs typeface="Times New Roman" panose="02020603050405020304" pitchFamily="18" charset="0"/>
              </a:rPr>
              <a:t>Naturalistic stimuli such as video may better exposes individual differences between participants [4]. Naturalistic stimuli are closer to real-world experiences, increasing their ecological validity compared to highly-controlled, experimental tasks [5]. They also offer improved test-retest reliability compared to resting state. There are associations between severity of psychopathology and altered emotional processing of movie clips. [6, 7]. </a:t>
            </a:r>
            <a:endParaRPr lang="en-GB" dirty="0">
              <a:latin typeface="+mn-lt"/>
              <a:cs typeface="Times New Roman" panose="02020603050405020304" pitchFamily="18" charset="0"/>
            </a:endParaRPr>
          </a:p>
          <a:p>
            <a:pPr lvl="0" algn="just"/>
            <a:r>
              <a:rPr lang="en-GB" noProof="0" dirty="0">
                <a:latin typeface="+mn-lt"/>
                <a:cs typeface="Times New Roman" panose="02020603050405020304" pitchFamily="18" charset="0"/>
              </a:rPr>
              <a:t>Previous research showed that Hidden Markov models (HMM) may </a:t>
            </a:r>
            <a:r>
              <a:rPr lang="en-GB" dirty="0">
                <a:latin typeface="+mn-lt"/>
                <a:cs typeface="Times New Roman" panose="02020603050405020304" pitchFamily="18" charset="0"/>
              </a:rPr>
              <a:t>uncover differences in functional-connectivity in participants with mental illness [8, 9].</a:t>
            </a:r>
            <a:endParaRPr lang="en-GB" sz="4800" noProof="0" dirty="0">
              <a:latin typeface="+mn-lt"/>
            </a:endParaRPr>
          </a:p>
        </p:txBody>
      </p:sp>
      <p:sp>
        <p:nvSpPr>
          <p:cNvPr id="43" name="TextBox 42">
            <a:extLst>
              <a:ext uri="{FF2B5EF4-FFF2-40B4-BE49-F238E27FC236}">
                <a16:creationId xmlns:a16="http://schemas.microsoft.com/office/drawing/2014/main" id="{BC46AA85-06E2-702C-D558-B92B1F705AB8}"/>
              </a:ext>
            </a:extLst>
          </p:cNvPr>
          <p:cNvSpPr txBox="1"/>
          <p:nvPr/>
        </p:nvSpPr>
        <p:spPr>
          <a:xfrm>
            <a:off x="10320373" y="4542682"/>
            <a:ext cx="9115200" cy="6781087"/>
          </a:xfrm>
          <a:prstGeom prst="rect">
            <a:avLst/>
          </a:prstGeom>
          <a:noFill/>
        </p:spPr>
        <p:txBody>
          <a:bodyPr wrap="square">
            <a:spAutoFit/>
          </a:bodyPr>
          <a:lstStyle/>
          <a:p>
            <a:pPr algn="just">
              <a:lnSpc>
                <a:spcPct val="115000"/>
              </a:lnSpc>
              <a:buNone/>
            </a:pPr>
            <a:r>
              <a:rPr lang="en-AU" b="1" kern="100" dirty="0">
                <a:effectLst/>
                <a:latin typeface="+mn-lt"/>
                <a:ea typeface="Aptos" panose="020B0004020202020204" pitchFamily="34" charset="0"/>
                <a:cs typeface="Times New Roman" panose="02020603050405020304" pitchFamily="18" charset="0"/>
              </a:rPr>
              <a:t>METHODS</a:t>
            </a:r>
          </a:p>
          <a:p>
            <a:pPr algn="just">
              <a:lnSpc>
                <a:spcPct val="115000"/>
              </a:lnSpc>
              <a:buNone/>
            </a:pPr>
            <a:endParaRPr lang="en-AU" sz="2000" kern="100" dirty="0">
              <a:latin typeface="+mn-lt"/>
              <a:ea typeface="Aptos" panose="020B0004020202020204" pitchFamily="34" charset="0"/>
              <a:cs typeface="Times New Roman" panose="02020603050405020304" pitchFamily="18" charset="0"/>
            </a:endParaRPr>
          </a:p>
          <a:p>
            <a:pPr algn="just">
              <a:lnSpc>
                <a:spcPct val="115000"/>
              </a:lnSpc>
              <a:buNone/>
            </a:pPr>
            <a:r>
              <a:rPr lang="en-AU" kern="100" dirty="0">
                <a:effectLst/>
                <a:latin typeface="+mn-lt"/>
                <a:ea typeface="Aptos" panose="020B0004020202020204" pitchFamily="34" charset="0"/>
                <a:cs typeface="Times New Roman" panose="02020603050405020304" pitchFamily="18" charset="0"/>
              </a:rPr>
              <a:t>43 participants with a history of diagnosed psychotic illness (CC) and 37 healthy controls (HC) were recruited for this study. CC participants fulfilled the DSM-5 criteria for broadly defined psychotic disorder (including mood disorders with psychotic features, schizophrenia, schizophreniform disorder, and schizoaffective disorder). CCs were recruited from outpatient mental health clinics in Hunter New England Local Health District in NSW, Australia. </a:t>
            </a:r>
          </a:p>
          <a:p>
            <a:pPr algn="just">
              <a:lnSpc>
                <a:spcPct val="115000"/>
              </a:lnSpc>
              <a:buNone/>
            </a:pPr>
            <a:endParaRPr lang="en-AU" kern="100" dirty="0">
              <a:effectLst/>
              <a:latin typeface="+mn-lt"/>
              <a:ea typeface="Aptos" panose="020B0004020202020204" pitchFamily="34" charset="0"/>
              <a:cs typeface="Times New Roman" panose="02020603050405020304" pitchFamily="18" charset="0"/>
            </a:endParaRPr>
          </a:p>
          <a:p>
            <a:pPr algn="just">
              <a:lnSpc>
                <a:spcPct val="115000"/>
              </a:lnSpc>
              <a:spcAft>
                <a:spcPts val="800"/>
              </a:spcAft>
              <a:buNone/>
            </a:pPr>
            <a:r>
              <a:rPr lang="en-AU" kern="100" dirty="0">
                <a:effectLst/>
                <a:latin typeface="+mn-lt"/>
                <a:ea typeface="DengXian" panose="02010600030101010101" pitchFamily="2" charset="-122"/>
                <a:cs typeface="Times New Roman" panose="02020603050405020304" pitchFamily="18" charset="0"/>
              </a:rPr>
              <a:t>Participants  viewed a 4-minute video stimulus compiled by </a:t>
            </a:r>
            <a:r>
              <a:rPr lang="en-AU" kern="100" dirty="0" err="1">
                <a:effectLst/>
                <a:latin typeface="+mn-lt"/>
                <a:ea typeface="DengXian" panose="02010600030101010101" pitchFamily="2" charset="-122"/>
                <a:cs typeface="Times New Roman" panose="02020603050405020304" pitchFamily="18" charset="0"/>
              </a:rPr>
              <a:t>Mavadati</a:t>
            </a:r>
            <a:r>
              <a:rPr lang="en-AU" kern="100" dirty="0">
                <a:latin typeface="+mn-lt"/>
                <a:ea typeface="DengXian" panose="02010600030101010101" pitchFamily="2" charset="-122"/>
                <a:cs typeface="Times New Roman" panose="02020603050405020304" pitchFamily="18" charset="0"/>
              </a:rPr>
              <a:t> and</a:t>
            </a:r>
            <a:r>
              <a:rPr lang="en-AU" kern="100" dirty="0">
                <a:effectLst/>
                <a:latin typeface="+mn-lt"/>
                <a:ea typeface="DengXian" panose="02010600030101010101" pitchFamily="2" charset="-122"/>
                <a:cs typeface="Times New Roman" panose="02020603050405020304" pitchFamily="18" charset="0"/>
              </a:rPr>
              <a:t> Mahoor [</a:t>
            </a:r>
            <a:r>
              <a:rPr lang="en-AU" kern="100" dirty="0">
                <a:latin typeface="+mn-lt"/>
                <a:ea typeface="DengXian" panose="02010600030101010101" pitchFamily="2" charset="-122"/>
                <a:cs typeface="Times New Roman" panose="02020603050405020304" pitchFamily="18" charset="0"/>
              </a:rPr>
              <a:t>10</a:t>
            </a:r>
            <a:r>
              <a:rPr lang="en-AU" kern="100" dirty="0">
                <a:effectLst/>
                <a:latin typeface="+mn-lt"/>
                <a:ea typeface="DengXian" panose="02010600030101010101" pitchFamily="2" charset="-122"/>
                <a:cs typeface="Times New Roman" panose="02020603050405020304" pitchFamily="18" charset="0"/>
              </a:rPr>
              <a:t>] for the DISFA database (see Table 1). Symptom severity was assessed using the PANSS scale. Functional MRI and heart rate (HR) were recorded during viewing. The fMRI data has previously been </a:t>
            </a:r>
            <a:r>
              <a:rPr lang="en-AU" kern="100" dirty="0" err="1">
                <a:effectLst/>
                <a:latin typeface="+mn-lt"/>
                <a:ea typeface="DengXian" panose="02010600030101010101" pitchFamily="2" charset="-122"/>
                <a:cs typeface="Times New Roman" panose="02020603050405020304" pitchFamily="18" charset="0"/>
              </a:rPr>
              <a:t>preprocessed</a:t>
            </a:r>
            <a:r>
              <a:rPr lang="en-AU" kern="100" dirty="0">
                <a:effectLst/>
                <a:latin typeface="+mn-lt"/>
                <a:ea typeface="DengXian" panose="02010600030101010101" pitchFamily="2" charset="-122"/>
                <a:cs typeface="Times New Roman" panose="02020603050405020304" pitchFamily="18" charset="0"/>
              </a:rPr>
              <a:t> with </a:t>
            </a:r>
            <a:r>
              <a:rPr lang="en-AU" kern="100" dirty="0" err="1">
                <a:effectLst/>
                <a:latin typeface="+mn-lt"/>
                <a:ea typeface="DengXian" panose="02010600030101010101" pitchFamily="2" charset="-122"/>
                <a:cs typeface="Times New Roman" panose="02020603050405020304" pitchFamily="18" charset="0"/>
              </a:rPr>
              <a:t>fmriprep</a:t>
            </a:r>
            <a:r>
              <a:rPr lang="en-AU" kern="100" dirty="0">
                <a:effectLst/>
                <a:latin typeface="+mn-lt"/>
                <a:ea typeface="DengXian" panose="02010600030101010101" pitchFamily="2" charset="-122"/>
                <a:cs typeface="Times New Roman" panose="02020603050405020304" pitchFamily="18" charset="0"/>
              </a:rPr>
              <a:t>.</a:t>
            </a:r>
          </a:p>
        </p:txBody>
      </p:sp>
      <p:grpSp>
        <p:nvGrpSpPr>
          <p:cNvPr id="10" name="Group 9">
            <a:extLst>
              <a:ext uri="{FF2B5EF4-FFF2-40B4-BE49-F238E27FC236}">
                <a16:creationId xmlns:a16="http://schemas.microsoft.com/office/drawing/2014/main" id="{2C65C90B-4798-8AED-49E1-213A17663A4B}"/>
              </a:ext>
            </a:extLst>
          </p:cNvPr>
          <p:cNvGrpSpPr/>
          <p:nvPr/>
        </p:nvGrpSpPr>
        <p:grpSpPr>
          <a:xfrm>
            <a:off x="16188626" y="25883570"/>
            <a:ext cx="10587323" cy="8659430"/>
            <a:chOff x="15957188" y="25150681"/>
            <a:chExt cx="11257276" cy="8106243"/>
          </a:xfrm>
        </p:grpSpPr>
        <p:pic>
          <p:nvPicPr>
            <p:cNvPr id="9" name="Picture 8">
              <a:extLst>
                <a:ext uri="{FF2B5EF4-FFF2-40B4-BE49-F238E27FC236}">
                  <a16:creationId xmlns:a16="http://schemas.microsoft.com/office/drawing/2014/main" id="{9974C725-8773-C8E3-642E-406BABC2783D}"/>
                </a:ext>
              </a:extLst>
            </p:cNvPr>
            <p:cNvPicPr>
              <a:picLocks noChangeAspect="1"/>
            </p:cNvPicPr>
            <p:nvPr/>
          </p:nvPicPr>
          <p:blipFill>
            <a:blip r:embed="rId3"/>
            <a:stretch>
              <a:fillRect/>
            </a:stretch>
          </p:blipFill>
          <p:spPr>
            <a:xfrm>
              <a:off x="15957188" y="29523048"/>
              <a:ext cx="11257276" cy="3733876"/>
            </a:xfrm>
            <a:prstGeom prst="rect">
              <a:avLst/>
            </a:prstGeom>
          </p:spPr>
        </p:pic>
        <p:pic>
          <p:nvPicPr>
            <p:cNvPr id="8" name="Picture 7">
              <a:extLst>
                <a:ext uri="{FF2B5EF4-FFF2-40B4-BE49-F238E27FC236}">
                  <a16:creationId xmlns:a16="http://schemas.microsoft.com/office/drawing/2014/main" id="{3EB7B293-75B1-8ABB-D581-97363B7347C5}"/>
                </a:ext>
              </a:extLst>
            </p:cNvPr>
            <p:cNvPicPr>
              <a:picLocks noChangeAspect="1"/>
            </p:cNvPicPr>
            <p:nvPr/>
          </p:nvPicPr>
          <p:blipFill>
            <a:blip r:embed="rId4"/>
            <a:stretch>
              <a:fillRect/>
            </a:stretch>
          </p:blipFill>
          <p:spPr>
            <a:xfrm>
              <a:off x="16021047" y="25150681"/>
              <a:ext cx="11193417" cy="4216839"/>
            </a:xfrm>
            <a:prstGeom prst="rect">
              <a:avLst/>
            </a:prstGeom>
          </p:spPr>
        </p:pic>
      </p:grpSp>
      <p:graphicFrame>
        <p:nvGraphicFramePr>
          <p:cNvPr id="18" name="Table 17">
            <a:extLst>
              <a:ext uri="{FF2B5EF4-FFF2-40B4-BE49-F238E27FC236}">
                <a16:creationId xmlns:a16="http://schemas.microsoft.com/office/drawing/2014/main" id="{3C58D0FE-D92B-E5BF-DB81-ED50F739554C}"/>
              </a:ext>
            </a:extLst>
          </p:cNvPr>
          <p:cNvGraphicFramePr>
            <a:graphicFrameLocks noGrp="1"/>
          </p:cNvGraphicFramePr>
          <p:nvPr>
            <p:extLst>
              <p:ext uri="{D42A27DB-BD31-4B8C-83A1-F6EECF244321}">
                <p14:modId xmlns:p14="http://schemas.microsoft.com/office/powerpoint/2010/main" val="4107638763"/>
              </p:ext>
            </p:extLst>
          </p:nvPr>
        </p:nvGraphicFramePr>
        <p:xfrm>
          <a:off x="1052737" y="14332857"/>
          <a:ext cx="11999619" cy="6165646"/>
        </p:xfrm>
        <a:graphic>
          <a:graphicData uri="http://schemas.openxmlformats.org/drawingml/2006/table">
            <a:tbl>
              <a:tblPr>
                <a:tableStyleId>{793D81CF-94F2-401A-BA57-92F5A7B2D0C5}</a:tableStyleId>
              </a:tblPr>
              <a:tblGrid>
                <a:gridCol w="1214429">
                  <a:extLst>
                    <a:ext uri="{9D8B030D-6E8A-4147-A177-3AD203B41FA5}">
                      <a16:colId xmlns:a16="http://schemas.microsoft.com/office/drawing/2014/main" val="1950710897"/>
                    </a:ext>
                  </a:extLst>
                </a:gridCol>
                <a:gridCol w="1807571">
                  <a:extLst>
                    <a:ext uri="{9D8B030D-6E8A-4147-A177-3AD203B41FA5}">
                      <a16:colId xmlns:a16="http://schemas.microsoft.com/office/drawing/2014/main" val="1218109876"/>
                    </a:ext>
                  </a:extLst>
                </a:gridCol>
                <a:gridCol w="2519819">
                  <a:extLst>
                    <a:ext uri="{9D8B030D-6E8A-4147-A177-3AD203B41FA5}">
                      <a16:colId xmlns:a16="http://schemas.microsoft.com/office/drawing/2014/main" val="4090963820"/>
                    </a:ext>
                  </a:extLst>
                </a:gridCol>
                <a:gridCol w="2736405">
                  <a:extLst>
                    <a:ext uri="{9D8B030D-6E8A-4147-A177-3AD203B41FA5}">
                      <a16:colId xmlns:a16="http://schemas.microsoft.com/office/drawing/2014/main" val="1115190856"/>
                    </a:ext>
                  </a:extLst>
                </a:gridCol>
                <a:gridCol w="3721395">
                  <a:extLst>
                    <a:ext uri="{9D8B030D-6E8A-4147-A177-3AD203B41FA5}">
                      <a16:colId xmlns:a16="http://schemas.microsoft.com/office/drawing/2014/main" val="2452923745"/>
                    </a:ext>
                  </a:extLst>
                </a:gridCol>
              </a:tblGrid>
              <a:tr h="514466">
                <a:tc>
                  <a:txBody>
                    <a:bodyPr/>
                    <a:lstStyle/>
                    <a:p>
                      <a:pPr algn="ctr" fontAlgn="b">
                        <a:buNone/>
                      </a:pPr>
                      <a:r>
                        <a:rPr lang="en-AU" sz="1800" u="none" strike="noStrike" dirty="0">
                          <a:solidFill>
                            <a:schemeClr val="bg1"/>
                          </a:solidFill>
                          <a:effectLst/>
                        </a:rPr>
                        <a:t>HMM State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b="0" u="none" strike="noStrike" dirty="0">
                          <a:solidFill>
                            <a:schemeClr val="bg1"/>
                          </a:solidFill>
                          <a:effectLst/>
                        </a:rPr>
                        <a:t>Standard Deviation</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Confidence Interval</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tc>
                  <a:txBody>
                    <a:bodyPr/>
                    <a:lstStyle/>
                    <a:p>
                      <a:pPr algn="ctr" fontAlgn="b">
                        <a:buNone/>
                      </a:pPr>
                      <a:r>
                        <a:rPr lang="en-AU" sz="1800" u="none" strike="noStrike" dirty="0">
                          <a:solidFill>
                            <a:schemeClr val="bg1"/>
                          </a:solidFill>
                          <a:effectLst/>
                        </a:rPr>
                        <a:t>Adjusted p-value</a:t>
                      </a:r>
                      <a:endParaRPr lang="en-AU" sz="1800" b="0" i="0" u="none" strike="noStrike" dirty="0">
                        <a:solidFill>
                          <a:schemeClr val="bg1"/>
                        </a:solidFill>
                        <a:effectLst/>
                        <a:latin typeface="Calibri" panose="020F0502020204030204" pitchFamily="34" charset="0"/>
                      </a:endParaRPr>
                    </a:p>
                  </a:txBody>
                  <a:tcPr marL="9525" marR="9525" marT="9525" marB="0" anchor="b">
                    <a:solidFill>
                      <a:schemeClr val="tx1"/>
                    </a:solidFill>
                  </a:tcPr>
                </a:tc>
                <a:extLst>
                  <a:ext uri="{0D108BD9-81ED-4DB2-BD59-A6C34878D82A}">
                    <a16:rowId xmlns:a16="http://schemas.microsoft.com/office/drawing/2014/main" val="3081141268"/>
                  </a:ext>
                </a:extLst>
              </a:tr>
              <a:tr h="652906">
                <a:tc>
                  <a:txBody>
                    <a:bodyPr/>
                    <a:lstStyle/>
                    <a:p>
                      <a:pPr algn="ctr" fontAlgn="b">
                        <a:buNone/>
                      </a:pPr>
                      <a:r>
                        <a:rPr lang="en-AU" sz="1800" u="none" strike="noStrike" dirty="0">
                          <a:effectLst/>
                        </a:rPr>
                        <a:t>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0.616714493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0.029380785</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[-0.00796, 0.01321]</a:t>
                      </a:r>
                    </a:p>
                  </a:txBody>
                  <a:tcPr marL="9525" marR="9525" marT="9525" marB="0" anchor="ct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866378785"/>
                  </a:ext>
                </a:extLst>
              </a:tr>
              <a:tr h="652906">
                <a:tc>
                  <a:txBody>
                    <a:bodyPr/>
                    <a:lstStyle/>
                    <a:p>
                      <a:pPr algn="ctr" fontAlgn="b">
                        <a:buNone/>
                      </a:pPr>
                      <a:r>
                        <a:rPr lang="en-AU" sz="1800" u="none" strike="noStrike" dirty="0">
                          <a:effectLst/>
                        </a:rPr>
                        <a:t>2</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0.40680231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0.029972409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[-0.00635, 0.01526]</a:t>
                      </a:r>
                    </a:p>
                  </a:txBody>
                  <a:tcPr marL="9525" marR="9525" marT="9525" marB="0" anchor="ctr"/>
                </a:tc>
                <a:tc>
                  <a:txBody>
                    <a:bodyPr/>
                    <a:lstStyle/>
                    <a:p>
                      <a:pPr algn="ctr" fontAlgn="b">
                        <a:buNone/>
                      </a:pPr>
                      <a:r>
                        <a:rPr lang="en-AU" sz="1800" u="none" strike="noStrike" dirty="0">
                          <a:effectLst/>
                        </a:rPr>
                        <a:t>0.610203464</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565870905"/>
                  </a:ext>
                </a:extLst>
              </a:tr>
              <a:tr h="652906">
                <a:tc>
                  <a:txBody>
                    <a:bodyPr/>
                    <a:lstStyle/>
                    <a:p>
                      <a:pPr algn="ctr" fontAlgn="b">
                        <a:buNone/>
                      </a:pPr>
                      <a:r>
                        <a:rPr lang="en-AU" sz="1800" u="none" strike="noStrike" dirty="0">
                          <a:effectLst/>
                        </a:rPr>
                        <a:t>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0.024935476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[-0.00816, 0.18648]</a:t>
                      </a:r>
                    </a:p>
                  </a:txBody>
                  <a:tcPr marL="9525" marR="9525" marT="9525" marB="0" anchor="ctr"/>
                </a:tc>
                <a:tc>
                  <a:txBody>
                    <a:bodyPr/>
                    <a:lstStyle/>
                    <a:p>
                      <a:pPr algn="ctr" fontAlgn="b">
                        <a:buNone/>
                      </a:pPr>
                      <a:r>
                        <a:rPr lang="en-AU" sz="1800" u="none" strike="noStrike" dirty="0">
                          <a:effectLst/>
                        </a:rPr>
                        <a:t>0.85327787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9532118"/>
                  </a:ext>
                </a:extLst>
              </a:tr>
              <a:tr h="652906">
                <a:tc>
                  <a:txBody>
                    <a:bodyPr/>
                    <a:lstStyle/>
                    <a:p>
                      <a:pPr algn="ctr" fontAlgn="b">
                        <a:buNone/>
                      </a:pPr>
                      <a:r>
                        <a:rPr lang="en-AU" sz="1800" u="none" strike="noStrike" dirty="0">
                          <a:effectLst/>
                        </a:rPr>
                        <a:t>4</a:t>
                      </a:r>
                      <a:endParaRPr lang="en-AU" sz="1800" b="0" i="0" u="none" strike="noStrike" dirty="0">
                        <a:effectLst/>
                        <a:latin typeface="Calibri" panose="020F0502020204030204" pitchFamily="34" charset="0"/>
                      </a:endParaRPr>
                    </a:p>
                  </a:txBody>
                  <a:tcPr marL="9525" marR="9525" marT="9525" marB="0" anchor="ctr">
                    <a:solidFill>
                      <a:srgbClr val="07FFFB"/>
                    </a:solidFill>
                  </a:tcPr>
                </a:tc>
                <a:tc>
                  <a:txBody>
                    <a:bodyPr/>
                    <a:lstStyle/>
                    <a:p>
                      <a:pPr algn="ctr" fontAlgn="b">
                        <a:buNone/>
                      </a:pPr>
                      <a:r>
                        <a:rPr lang="en-AU" sz="1800" b="1" u="none" strike="noStrike" dirty="0">
                          <a:effectLst/>
                        </a:rPr>
                        <a:t>0.011454808</a:t>
                      </a:r>
                      <a:endParaRPr lang="en-AU" sz="1800" b="1" i="0" u="none" strike="noStrike" dirty="0">
                        <a:effectLst/>
                        <a:latin typeface="Calibri" panose="020F0502020204030204" pitchFamily="34" charset="0"/>
                      </a:endParaRPr>
                    </a:p>
                  </a:txBody>
                  <a:tcPr marL="9525" marR="9525" marT="9525" marB="0" anchor="ctr">
                    <a:solidFill>
                      <a:srgbClr val="07FFFB">
                        <a:alpha val="50196"/>
                      </a:srgbClr>
                    </a:solidFill>
                  </a:tcPr>
                </a:tc>
                <a:tc>
                  <a:txBody>
                    <a:bodyPr/>
                    <a:lstStyle/>
                    <a:p>
                      <a:pPr algn="ctr" fontAlgn="b">
                        <a:buNone/>
                      </a:pPr>
                      <a:r>
                        <a:rPr lang="en-AU" sz="1800" u="none" strike="noStrike" dirty="0">
                          <a:effectLst/>
                        </a:rPr>
                        <a:t>0.05276286</a:t>
                      </a:r>
                      <a:endParaRPr lang="en-AU" sz="1800" b="0" i="0" u="none" strike="noStrike" dirty="0">
                        <a:effectLst/>
                        <a:latin typeface="Calibri" panose="020F0502020204030204" pitchFamily="34" charset="0"/>
                      </a:endParaRPr>
                    </a:p>
                  </a:txBody>
                  <a:tcPr marL="9525" marR="9525" marT="9525" marB="0" anchor="ctr">
                    <a:solidFill>
                      <a:srgbClr val="07FFFB">
                        <a:alpha val="50196"/>
                      </a:srgbClr>
                    </a:solidFill>
                  </a:tcPr>
                </a:tc>
                <a:tc>
                  <a:txBody>
                    <a:bodyPr/>
                    <a:lstStyle/>
                    <a:p>
                      <a:pPr algn="ctr" fontAlgn="b">
                        <a:buNone/>
                      </a:pPr>
                      <a:r>
                        <a:rPr lang="en-CH" sz="1800" b="0" i="0" u="none" strike="noStrike" dirty="0">
                          <a:effectLst/>
                          <a:latin typeface="+mn-lt"/>
                        </a:rPr>
                        <a:t>[-0.04409, -2.68813]</a:t>
                      </a:r>
                    </a:p>
                  </a:txBody>
                  <a:tcPr marL="9525" marR="9525" marT="9525" marB="0" anchor="ctr">
                    <a:solidFill>
                      <a:srgbClr val="07FFFB">
                        <a:alpha val="50196"/>
                      </a:srgbClr>
                    </a:solidFill>
                  </a:tcPr>
                </a:tc>
                <a:tc>
                  <a:txBody>
                    <a:bodyPr/>
                    <a:lstStyle/>
                    <a:p>
                      <a:pPr algn="ctr" fontAlgn="b">
                        <a:buNone/>
                      </a:pPr>
                      <a:r>
                        <a:rPr lang="en-AU" sz="1800" u="none" strike="noStrike" dirty="0">
                          <a:effectLst/>
                        </a:rPr>
                        <a:t>0.103093273</a:t>
                      </a:r>
                      <a:endParaRPr lang="en-AU" sz="1800" b="0" i="0" u="none" strike="noStrike" dirty="0">
                        <a:effectLst/>
                        <a:latin typeface="Calibri" panose="020F0502020204030204" pitchFamily="34" charset="0"/>
                      </a:endParaRPr>
                    </a:p>
                  </a:txBody>
                  <a:tcPr marL="9525" marR="9525" marT="9525" marB="0" anchor="ctr">
                    <a:solidFill>
                      <a:srgbClr val="07FFFB">
                        <a:alpha val="50196"/>
                      </a:srgbClr>
                    </a:solidFill>
                  </a:tcPr>
                </a:tc>
                <a:extLst>
                  <a:ext uri="{0D108BD9-81ED-4DB2-BD59-A6C34878D82A}">
                    <a16:rowId xmlns:a16="http://schemas.microsoft.com/office/drawing/2014/main" val="3587250126"/>
                  </a:ext>
                </a:extLst>
              </a:tr>
              <a:tr h="652906">
                <a:tc>
                  <a:txBody>
                    <a:bodyPr/>
                    <a:lstStyle/>
                    <a:p>
                      <a:pPr algn="ctr" fontAlgn="b">
                        <a:buNone/>
                      </a:pPr>
                      <a:r>
                        <a:rPr lang="en-AU" sz="1800" u="none" strike="noStrike" dirty="0">
                          <a:effectLst/>
                        </a:rPr>
                        <a:t>5</a:t>
                      </a:r>
                      <a:endParaRPr lang="en-AU" sz="1800" b="0" i="0" u="none" strike="noStrike" dirty="0">
                        <a:effectLst/>
                        <a:latin typeface="Calibri" panose="020F0502020204030204" pitchFamily="34" charset="0"/>
                      </a:endParaRPr>
                    </a:p>
                  </a:txBody>
                  <a:tcPr marL="9525" marR="9525" marT="9525" marB="0" anchor="ctr">
                    <a:solidFill>
                      <a:srgbClr val="84FF7B"/>
                    </a:solidFill>
                  </a:tcPr>
                </a:tc>
                <a:tc>
                  <a:txBody>
                    <a:bodyPr/>
                    <a:lstStyle/>
                    <a:p>
                      <a:pPr algn="ctr" fontAlgn="b">
                        <a:buNone/>
                      </a:pPr>
                      <a:r>
                        <a:rPr lang="en-AU" sz="1800" b="1" u="none" strike="noStrike" dirty="0">
                          <a:effectLst/>
                        </a:rPr>
                        <a:t>0.033444333</a:t>
                      </a:r>
                      <a:endParaRPr lang="en-AU" sz="1800" b="1" i="0" u="none" strike="noStrike" dirty="0">
                        <a:effectLst/>
                        <a:latin typeface="Calibri" panose="020F0502020204030204" pitchFamily="34" charset="0"/>
                      </a:endParaRPr>
                    </a:p>
                  </a:txBody>
                  <a:tcPr marL="9525" marR="9525" marT="9525" marB="0" anchor="ctr">
                    <a:solidFill>
                      <a:srgbClr val="84FF7B">
                        <a:alpha val="50196"/>
                      </a:srgbClr>
                    </a:solidFill>
                  </a:tcPr>
                </a:tc>
                <a:tc>
                  <a:txBody>
                    <a:bodyPr/>
                    <a:lstStyle/>
                    <a:p>
                      <a:pPr algn="ctr" fontAlgn="b">
                        <a:buNone/>
                      </a:pPr>
                      <a:r>
                        <a:rPr lang="en-AU" sz="1800" u="none" strike="noStrike" dirty="0">
                          <a:effectLst/>
                        </a:rPr>
                        <a:t>0.027101147</a:t>
                      </a:r>
                      <a:endParaRPr lang="en-AU" sz="1800" b="0" i="0" u="none" strike="noStrike" dirty="0">
                        <a:effectLst/>
                        <a:latin typeface="Calibri" panose="020F0502020204030204" pitchFamily="34" charset="0"/>
                      </a:endParaRPr>
                    </a:p>
                  </a:txBody>
                  <a:tcPr marL="9525" marR="9525" marT="9525" marB="0" anchor="ctr">
                    <a:solidFill>
                      <a:srgbClr val="84FF7B">
                        <a:alpha val="50196"/>
                      </a:srgbClr>
                    </a:solidFill>
                  </a:tcPr>
                </a:tc>
                <a:tc>
                  <a:txBody>
                    <a:bodyPr/>
                    <a:lstStyle/>
                    <a:p>
                      <a:pPr algn="ctr" fontAlgn="b">
                        <a:buNone/>
                      </a:pPr>
                      <a:r>
                        <a:rPr lang="en-CH" sz="1800" b="0" i="0" u="none" strike="noStrike" dirty="0">
                          <a:effectLst/>
                          <a:latin typeface="+mn-lt"/>
                        </a:rPr>
                        <a:t>[0.00089, 2.22566]</a:t>
                      </a:r>
                    </a:p>
                  </a:txBody>
                  <a:tcPr marL="9525" marR="9525" marT="9525" marB="0" anchor="ctr">
                    <a:solidFill>
                      <a:srgbClr val="84FF7B">
                        <a:alpha val="50196"/>
                      </a:srgbClr>
                    </a:solidFill>
                  </a:tcPr>
                </a:tc>
                <a:tc>
                  <a:txBody>
                    <a:bodyPr/>
                    <a:lstStyle/>
                    <a:p>
                      <a:pPr algn="ctr" fontAlgn="b">
                        <a:buNone/>
                      </a:pPr>
                      <a:r>
                        <a:rPr lang="en-AU" sz="1800" u="none" strike="noStrike" dirty="0">
                          <a:effectLst/>
                        </a:rPr>
                        <a:t>0.1504995</a:t>
                      </a:r>
                      <a:endParaRPr lang="en-AU" sz="1800" b="0" i="0" u="none" strike="noStrike" dirty="0">
                        <a:effectLst/>
                        <a:latin typeface="Calibri" panose="020F0502020204030204" pitchFamily="34" charset="0"/>
                      </a:endParaRPr>
                    </a:p>
                  </a:txBody>
                  <a:tcPr marL="9525" marR="9525" marT="9525" marB="0" anchor="ctr">
                    <a:solidFill>
                      <a:srgbClr val="84FF7B">
                        <a:alpha val="50196"/>
                      </a:srgbClr>
                    </a:solidFill>
                  </a:tcPr>
                </a:tc>
                <a:extLst>
                  <a:ext uri="{0D108BD9-81ED-4DB2-BD59-A6C34878D82A}">
                    <a16:rowId xmlns:a16="http://schemas.microsoft.com/office/drawing/2014/main" val="1271637553"/>
                  </a:ext>
                </a:extLst>
              </a:tr>
              <a:tr h="427932">
                <a:tc>
                  <a:txBody>
                    <a:bodyPr/>
                    <a:lstStyle/>
                    <a:p>
                      <a:pPr algn="ctr" fontAlgn="b">
                        <a:buNone/>
                      </a:pPr>
                      <a:r>
                        <a:rPr lang="en-AU" sz="1800" u="none" strike="noStrike" dirty="0">
                          <a:effectLst/>
                        </a:rPr>
                        <a:t>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0.241973669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0.028741026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[-0.00431, 1.19286]</a:t>
                      </a:r>
                    </a:p>
                  </a:txBody>
                  <a:tcPr marL="9525" marR="9525" marT="9525" marB="0" anchor="ctr"/>
                </a:tc>
                <a:tc>
                  <a:txBody>
                    <a:bodyPr/>
                    <a:lstStyle/>
                    <a:p>
                      <a:pPr algn="ctr" fontAlgn="b">
                        <a:buNone/>
                      </a:pPr>
                      <a:r>
                        <a:rPr lang="en-AU" sz="1800" u="none" strike="noStrike" dirty="0">
                          <a:effectLst/>
                        </a:rPr>
                        <a:t>0.544440756</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1955994951"/>
                  </a:ext>
                </a:extLst>
              </a:tr>
              <a:tr h="652906">
                <a:tc>
                  <a:txBody>
                    <a:bodyPr/>
                    <a:lstStyle/>
                    <a:p>
                      <a:pPr algn="ctr" fontAlgn="b">
                        <a:buNone/>
                      </a:pPr>
                      <a:r>
                        <a:rPr lang="en-AU" sz="1800" u="none" strike="noStrike" dirty="0">
                          <a:effectLst/>
                        </a:rPr>
                        <a:t>7</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a:effectLst/>
                        </a:rPr>
                        <a:t>0.317530437</a:t>
                      </a:r>
                      <a:endParaRPr lang="en-AU" sz="1800" b="0" i="0" u="none" strike="noStrike">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0.033597883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[-0.01814, -1.01592]</a:t>
                      </a:r>
                    </a:p>
                  </a:txBody>
                  <a:tcPr marL="9525" marR="9525" marT="9525" marB="0" anchor="ctr"/>
                </a:tc>
                <a:tc>
                  <a:txBody>
                    <a:bodyPr/>
                    <a:lstStyle/>
                    <a:p>
                      <a:pPr algn="ctr" fontAlgn="b">
                        <a:buNone/>
                      </a:pPr>
                      <a:r>
                        <a:rPr lang="en-AU" sz="1800" u="none" strike="noStrike" dirty="0">
                          <a:effectLst/>
                        </a:rPr>
                        <a:t>0.571554787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021625743"/>
                  </a:ext>
                </a:extLst>
              </a:tr>
              <a:tr h="652906">
                <a:tc>
                  <a:txBody>
                    <a:bodyPr/>
                    <a:lstStyle/>
                    <a:p>
                      <a:pPr algn="ctr" fontAlgn="b">
                        <a:buNone/>
                      </a:pPr>
                      <a:r>
                        <a:rPr lang="en-AU" sz="1800" u="none" strike="noStrike" dirty="0">
                          <a:effectLst/>
                        </a:rPr>
                        <a:t>8</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a:effectLst/>
                        </a:rPr>
                        <a:t>0.660840034</a:t>
                      </a:r>
                      <a:endParaRPr lang="en-AU" sz="1800" b="0" i="0" u="none" strike="noStrike">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0.03525043</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[-0.01546, -0.44300]</a:t>
                      </a:r>
                    </a:p>
                  </a:txBody>
                  <a:tcPr marL="9525" marR="9525" marT="9525" marB="0" anchor="ctr"/>
                </a:tc>
                <a:tc>
                  <a:txBody>
                    <a:bodyPr/>
                    <a:lstStyle/>
                    <a:p>
                      <a:pPr algn="ctr" fontAlgn="b">
                        <a:buNone/>
                      </a:pPr>
                      <a:r>
                        <a:rPr lang="en-AU" sz="1800" u="none" strike="noStrike" dirty="0">
                          <a:effectLst/>
                        </a:rPr>
                        <a:t>0.743445039</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125066314"/>
                  </a:ext>
                </a:extLst>
              </a:tr>
              <a:tr h="652906">
                <a:tc>
                  <a:txBody>
                    <a:bodyPr/>
                    <a:lstStyle/>
                    <a:p>
                      <a:pPr algn="ctr" fontAlgn="b">
                        <a:buNone/>
                      </a:pPr>
                      <a:r>
                        <a:rPr lang="en-AU" sz="1800" u="none" strike="noStrike" dirty="0">
                          <a:effectLst/>
                        </a:rPr>
                        <a:t>9</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0.124843396</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AU" sz="1800" u="none" strike="noStrike" dirty="0">
                          <a:effectLst/>
                        </a:rPr>
                        <a:t>0.033135261</a:t>
                      </a:r>
                      <a:endParaRPr lang="en-AU" sz="1800" b="0" i="0" u="none" strike="noStrike" dirty="0">
                        <a:effectLst/>
                        <a:latin typeface="Calibri" panose="020F0502020204030204" pitchFamily="34" charset="0"/>
                      </a:endParaRPr>
                    </a:p>
                  </a:txBody>
                  <a:tcPr marL="9525" marR="9525" marT="9525" marB="0" anchor="ctr"/>
                </a:tc>
                <a:tc>
                  <a:txBody>
                    <a:bodyPr/>
                    <a:lstStyle/>
                    <a:p>
                      <a:pPr algn="ctr" fontAlgn="b">
                        <a:buNone/>
                      </a:pPr>
                      <a:r>
                        <a:rPr lang="en-CH" sz="1800" b="0" i="0" u="none" strike="noStrike" dirty="0">
                          <a:effectLst/>
                          <a:latin typeface="+mn-lt"/>
                        </a:rPr>
                        <a:t>[-0.00271, 1.57745]</a:t>
                      </a:r>
                    </a:p>
                  </a:txBody>
                  <a:tcPr marL="9525" marR="9525" marT="9525" marB="0" anchor="ctr"/>
                </a:tc>
                <a:tc>
                  <a:txBody>
                    <a:bodyPr/>
                    <a:lstStyle/>
                    <a:p>
                      <a:pPr algn="ctr" fontAlgn="b">
                        <a:buNone/>
                      </a:pPr>
                      <a:r>
                        <a:rPr lang="en-AU" sz="1800" u="none" strike="noStrike" dirty="0">
                          <a:effectLst/>
                        </a:rPr>
                        <a:t>0.374530187</a:t>
                      </a:r>
                      <a:endParaRPr lang="en-AU" sz="1800" b="0" i="0" u="none" strike="noStrike" dirty="0">
                        <a:effectLst/>
                        <a:latin typeface="Calibri" panose="020F0502020204030204" pitchFamily="34" charset="0"/>
                      </a:endParaRPr>
                    </a:p>
                  </a:txBody>
                  <a:tcPr marL="9525" marR="9525" marT="9525" marB="0" anchor="ctr"/>
                </a:tc>
                <a:extLst>
                  <a:ext uri="{0D108BD9-81ED-4DB2-BD59-A6C34878D82A}">
                    <a16:rowId xmlns:a16="http://schemas.microsoft.com/office/drawing/2014/main" val="3186248895"/>
                  </a:ext>
                </a:extLst>
              </a:tr>
            </a:tbl>
          </a:graphicData>
        </a:graphic>
      </p:graphicFrame>
      <p:graphicFrame>
        <p:nvGraphicFramePr>
          <p:cNvPr id="19" name="Table 18">
            <a:extLst>
              <a:ext uri="{FF2B5EF4-FFF2-40B4-BE49-F238E27FC236}">
                <a16:creationId xmlns:a16="http://schemas.microsoft.com/office/drawing/2014/main" id="{C8276B45-66A0-0B5A-1399-4FB52D968E48}"/>
              </a:ext>
            </a:extLst>
          </p:cNvPr>
          <p:cNvGraphicFramePr>
            <a:graphicFrameLocks noGrp="1"/>
          </p:cNvGraphicFramePr>
          <p:nvPr>
            <p:extLst>
              <p:ext uri="{D42A27DB-BD31-4B8C-83A1-F6EECF244321}">
                <p14:modId xmlns:p14="http://schemas.microsoft.com/office/powerpoint/2010/main" val="2588264838"/>
              </p:ext>
            </p:extLst>
          </p:nvPr>
        </p:nvGraphicFramePr>
        <p:xfrm>
          <a:off x="13369929" y="13085929"/>
          <a:ext cx="15745291" cy="2590800"/>
        </p:xfrm>
        <a:graphic>
          <a:graphicData uri="http://schemas.openxmlformats.org/drawingml/2006/table">
            <a:tbl>
              <a:tblPr firstCol="1" bandRow="1">
                <a:tableStyleId>{8EC20E35-A176-4012-BC5E-935CFFF8708E}</a:tableStyleId>
              </a:tblPr>
              <a:tblGrid>
                <a:gridCol w="2471580">
                  <a:extLst>
                    <a:ext uri="{9D8B030D-6E8A-4147-A177-3AD203B41FA5}">
                      <a16:colId xmlns:a16="http://schemas.microsoft.com/office/drawing/2014/main" val="2760199544"/>
                    </a:ext>
                  </a:extLst>
                </a:gridCol>
                <a:gridCol w="1474857">
                  <a:extLst>
                    <a:ext uri="{9D8B030D-6E8A-4147-A177-3AD203B41FA5}">
                      <a16:colId xmlns:a16="http://schemas.microsoft.com/office/drawing/2014/main" val="48668993"/>
                    </a:ext>
                  </a:extLst>
                </a:gridCol>
                <a:gridCol w="1050622">
                  <a:extLst>
                    <a:ext uri="{9D8B030D-6E8A-4147-A177-3AD203B41FA5}">
                      <a16:colId xmlns:a16="http://schemas.microsoft.com/office/drawing/2014/main" val="2275633060"/>
                    </a:ext>
                  </a:extLst>
                </a:gridCol>
                <a:gridCol w="1070776">
                  <a:extLst>
                    <a:ext uri="{9D8B030D-6E8A-4147-A177-3AD203B41FA5}">
                      <a16:colId xmlns:a16="http://schemas.microsoft.com/office/drawing/2014/main" val="2559365229"/>
                    </a:ext>
                  </a:extLst>
                </a:gridCol>
                <a:gridCol w="856621">
                  <a:extLst>
                    <a:ext uri="{9D8B030D-6E8A-4147-A177-3AD203B41FA5}">
                      <a16:colId xmlns:a16="http://schemas.microsoft.com/office/drawing/2014/main" val="2837821901"/>
                    </a:ext>
                  </a:extLst>
                </a:gridCol>
                <a:gridCol w="2212937">
                  <a:extLst>
                    <a:ext uri="{9D8B030D-6E8A-4147-A177-3AD203B41FA5}">
                      <a16:colId xmlns:a16="http://schemas.microsoft.com/office/drawing/2014/main" val="2561314647"/>
                    </a:ext>
                  </a:extLst>
                </a:gridCol>
                <a:gridCol w="1142161">
                  <a:extLst>
                    <a:ext uri="{9D8B030D-6E8A-4147-A177-3AD203B41FA5}">
                      <a16:colId xmlns:a16="http://schemas.microsoft.com/office/drawing/2014/main" val="3013146904"/>
                    </a:ext>
                  </a:extLst>
                </a:gridCol>
                <a:gridCol w="2070167">
                  <a:extLst>
                    <a:ext uri="{9D8B030D-6E8A-4147-A177-3AD203B41FA5}">
                      <a16:colId xmlns:a16="http://schemas.microsoft.com/office/drawing/2014/main" val="4097784059"/>
                    </a:ext>
                  </a:extLst>
                </a:gridCol>
                <a:gridCol w="1641856">
                  <a:extLst>
                    <a:ext uri="{9D8B030D-6E8A-4147-A177-3AD203B41FA5}">
                      <a16:colId xmlns:a16="http://schemas.microsoft.com/office/drawing/2014/main" val="210142211"/>
                    </a:ext>
                  </a:extLst>
                </a:gridCol>
                <a:gridCol w="1753714">
                  <a:extLst>
                    <a:ext uri="{9D8B030D-6E8A-4147-A177-3AD203B41FA5}">
                      <a16:colId xmlns:a16="http://schemas.microsoft.com/office/drawing/2014/main" val="2936510662"/>
                    </a:ext>
                  </a:extLst>
                </a:gridCol>
              </a:tblGrid>
              <a:tr h="143081">
                <a:tc>
                  <a:txBody>
                    <a:bodyPr/>
                    <a:lstStyle/>
                    <a:p>
                      <a:r>
                        <a:rPr lang="en-US" sz="2000" dirty="0">
                          <a:solidFill>
                            <a:schemeClr val="bg1"/>
                          </a:solidFill>
                        </a:rPr>
                        <a:t>Segment Number</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1</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2</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3</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4</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5</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6</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7</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8</a:t>
                      </a:r>
                    </a:p>
                  </a:txBody>
                  <a:tcP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sz="2000" b="1" dirty="0">
                          <a:solidFill>
                            <a:schemeClr val="tx1"/>
                          </a:solidFill>
                        </a:rPr>
                        <a:t>9</a:t>
                      </a:r>
                    </a:p>
                  </a:txBody>
                  <a:tcP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10386141"/>
                  </a:ext>
                </a:extLst>
              </a:tr>
              <a:tr h="237529">
                <a:tc>
                  <a:txBody>
                    <a:bodyPr/>
                    <a:lstStyle/>
                    <a:p>
                      <a:r>
                        <a:rPr lang="en-US" sz="2000" dirty="0">
                          <a:solidFill>
                            <a:schemeClr val="bg1"/>
                          </a:solidFill>
                        </a:rPr>
                        <a:t>Start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25</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82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140</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156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194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46148226"/>
                  </a:ext>
                </a:extLst>
              </a:tr>
              <a:tr h="212694">
                <a:tc>
                  <a:txBody>
                    <a:bodyPr/>
                    <a:lstStyle/>
                    <a:p>
                      <a:r>
                        <a:rPr lang="en-US" sz="2000" dirty="0">
                          <a:solidFill>
                            <a:schemeClr val="bg1"/>
                          </a:solidFill>
                        </a:rPr>
                        <a:t>Length (s)</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11</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16</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34</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33</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41</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52132930"/>
                  </a:ext>
                </a:extLst>
              </a:tr>
              <a:tr h="372215">
                <a:tc>
                  <a:txBody>
                    <a:bodyPr/>
                    <a:lstStyle/>
                    <a:p>
                      <a:r>
                        <a:rPr lang="en-US" sz="2000" dirty="0">
                          <a:solidFill>
                            <a:schemeClr val="bg1"/>
                          </a:solidFill>
                        </a:rPr>
                        <a:t>Target Emotion</a:t>
                      </a:r>
                    </a:p>
                  </a:txBody>
                  <a:tcPr>
                    <a:lnL>
                      <a:noFill/>
                    </a:lnL>
                    <a:lnR>
                      <a:noFill/>
                    </a:lnR>
                    <a:lnT>
                      <a:noFill/>
                    </a:lnT>
                    <a:lnB>
                      <a:noFill/>
                    </a:lnB>
                    <a:lnTlToBr w="12700" cmpd="sng">
                      <a:noFill/>
                      <a:prstDash val="solid"/>
                    </a:lnTlToBr>
                    <a:lnBlToTr w="12700" cmpd="sng">
                      <a:noFill/>
                      <a:prstDash val="solid"/>
                    </a:lnBlToTr>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Happy</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Fear</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Disgust</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Sadness</a:t>
                      </a:r>
                    </a:p>
                  </a:txBody>
                  <a:tcPr>
                    <a:lnL>
                      <a:noFill/>
                    </a:lnL>
                    <a:lnR>
                      <a:noFill/>
                    </a:lnR>
                    <a:lnT>
                      <a:noFill/>
                    </a:lnT>
                    <a:lnB>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Surprise</a:t>
                      </a:r>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38433128"/>
                  </a:ext>
                </a:extLst>
              </a:tr>
              <a:tr h="67727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bg1"/>
                          </a:solidFill>
                        </a:rPr>
                        <a:t>% of time target emotion occurred</a:t>
                      </a:r>
                    </a:p>
                  </a:txBody>
                  <a:tcPr>
                    <a:lnL>
                      <a:noFill/>
                    </a:lnL>
                    <a:lnR>
                      <a:noFill/>
                    </a:lnR>
                    <a:lnT>
                      <a:noFill/>
                    </a:lnT>
                    <a:lnB w="25400" cmpd="sng">
                      <a:noFill/>
                    </a:lnB>
                    <a:lnTlToBr w="12700" cmpd="sng">
                      <a:noFill/>
                      <a:prstDash val="solid"/>
                    </a:lnTlToBr>
                    <a:lnBlToTr w="12700" cmpd="sng">
                      <a:noFill/>
                      <a:prstDash val="solid"/>
                    </a:lnBlToTr>
                  </a:tcPr>
                </a:tc>
                <a:tc>
                  <a:txBody>
                    <a:bodyPr/>
                    <a:lstStyle/>
                    <a:p>
                      <a:pPr algn="ctr"/>
                      <a:r>
                        <a:rPr lang="en-US" sz="2000" dirty="0">
                          <a:solidFill>
                            <a:schemeClr val="tx1"/>
                          </a:solidFill>
                        </a:rPr>
                        <a:t>67.3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52.8</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9.2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6.3</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23.6</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5.5</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5.1</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1.2</a:t>
                      </a:r>
                    </a:p>
                  </a:txBody>
                  <a:tcPr>
                    <a:lnL>
                      <a:noFill/>
                    </a:lnL>
                    <a:lnR>
                      <a:noFill/>
                    </a:lnR>
                    <a:lnT>
                      <a:noFill/>
                    </a:lnT>
                    <a:lnB w="25400" cmpd="sng">
                      <a:noFill/>
                    </a:lnB>
                    <a:lnTlToBr w="12700" cmpd="sng">
                      <a:noFill/>
                      <a:prstDash val="solid"/>
                    </a:lnTlToBr>
                    <a:lnBlToTr w="12700" cmpd="sng">
                      <a:noFill/>
                      <a:prstDash val="solid"/>
                    </a:lnBlToTr>
                    <a:noFill/>
                  </a:tcPr>
                </a:tc>
                <a:tc>
                  <a:txBody>
                    <a:bodyPr/>
                    <a:lstStyle/>
                    <a:p>
                      <a:pPr algn="ctr"/>
                      <a:r>
                        <a:rPr lang="en-US" sz="2000" dirty="0">
                          <a:solidFill>
                            <a:schemeClr val="tx1"/>
                          </a:solidFill>
                        </a:rPr>
                        <a:t>11.7</a:t>
                      </a:r>
                    </a:p>
                  </a:txBody>
                  <a:tcPr>
                    <a:lnL>
                      <a:noFill/>
                    </a:lnL>
                    <a:lnR>
                      <a:noFill/>
                    </a:lnR>
                    <a:lnT>
                      <a:noFill/>
                    </a:lnT>
                    <a:lnB w="254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2231954"/>
                  </a:ext>
                </a:extLst>
              </a:tr>
            </a:tbl>
          </a:graphicData>
        </a:graphic>
      </p:graphicFrame>
      <p:pic>
        <p:nvPicPr>
          <p:cNvPr id="20" name="Picture 19">
            <a:extLst>
              <a:ext uri="{FF2B5EF4-FFF2-40B4-BE49-F238E27FC236}">
                <a16:creationId xmlns:a16="http://schemas.microsoft.com/office/drawing/2014/main" id="{F838CCED-D0DD-6665-16FE-E231D144962F}"/>
              </a:ext>
            </a:extLst>
          </p:cNvPr>
          <p:cNvPicPr>
            <a:picLocks noChangeAspect="1"/>
          </p:cNvPicPr>
          <p:nvPr/>
        </p:nvPicPr>
        <p:blipFill>
          <a:blip r:embed="rId5"/>
          <a:srcRect t="16273"/>
          <a:stretch>
            <a:fillRect/>
          </a:stretch>
        </p:blipFill>
        <p:spPr>
          <a:xfrm>
            <a:off x="1085771" y="12192753"/>
            <a:ext cx="11875606" cy="1251034"/>
          </a:xfrm>
          <a:prstGeom prst="rect">
            <a:avLst/>
          </a:prstGeom>
        </p:spPr>
      </p:pic>
      <p:sp>
        <p:nvSpPr>
          <p:cNvPr id="22" name="TextBox 21">
            <a:extLst>
              <a:ext uri="{FF2B5EF4-FFF2-40B4-BE49-F238E27FC236}">
                <a16:creationId xmlns:a16="http://schemas.microsoft.com/office/drawing/2014/main" id="{B67020D2-F056-556F-80FF-9F5B0B63AA13}"/>
              </a:ext>
            </a:extLst>
          </p:cNvPr>
          <p:cNvSpPr txBox="1"/>
          <p:nvPr/>
        </p:nvSpPr>
        <p:spPr>
          <a:xfrm>
            <a:off x="941596" y="20724659"/>
            <a:ext cx="12300613" cy="707886"/>
          </a:xfrm>
          <a:prstGeom prst="rect">
            <a:avLst/>
          </a:prstGeom>
          <a:noFill/>
        </p:spPr>
        <p:txBody>
          <a:bodyPr wrap="square" rtlCol="0">
            <a:spAutoFit/>
          </a:bodyPr>
          <a:lstStyle/>
          <a:p>
            <a:r>
              <a:rPr lang="en-GB" sz="2000" b="1" i="1" dirty="0"/>
              <a:t>Table 2. </a:t>
            </a:r>
            <a:r>
              <a:rPr lang="en-GB" sz="2000" dirty="0"/>
              <a:t>Between group p-values for fractional occupancy of each state during video viewing by t test, adjusted via </a:t>
            </a:r>
            <a:r>
              <a:rPr lang="en-US" sz="2000" kern="100" dirty="0">
                <a:solidFill>
                  <a:srgbClr val="000000"/>
                </a:solidFill>
                <a:ea typeface="Aptos" panose="020B0004020202020204" pitchFamily="34" charset="0"/>
                <a:cs typeface="Times New Roman" panose="02020603050405020304" pitchFamily="18" charset="0"/>
              </a:rPr>
              <a:t>Benjamini-Hochberg procedure for FDR correction</a:t>
            </a:r>
            <a:r>
              <a:rPr lang="en-GB" sz="2000" dirty="0"/>
              <a:t>  </a:t>
            </a:r>
          </a:p>
        </p:txBody>
      </p:sp>
      <p:sp>
        <p:nvSpPr>
          <p:cNvPr id="24" name="TextBox 23">
            <a:extLst>
              <a:ext uri="{FF2B5EF4-FFF2-40B4-BE49-F238E27FC236}">
                <a16:creationId xmlns:a16="http://schemas.microsoft.com/office/drawing/2014/main" id="{480BE9C0-4A71-0094-73C3-33DBBA518C1B}"/>
              </a:ext>
            </a:extLst>
          </p:cNvPr>
          <p:cNvSpPr txBox="1"/>
          <p:nvPr/>
        </p:nvSpPr>
        <p:spPr>
          <a:xfrm>
            <a:off x="13258330" y="12121092"/>
            <a:ext cx="16078310" cy="1015663"/>
          </a:xfrm>
          <a:prstGeom prst="rect">
            <a:avLst/>
          </a:prstGeom>
          <a:solidFill>
            <a:schemeClr val="bg1"/>
          </a:solidFill>
        </p:spPr>
        <p:txBody>
          <a:bodyPr wrap="square" rtlCol="0">
            <a:spAutoFit/>
          </a:bodyPr>
          <a:lstStyle/>
          <a:p>
            <a:r>
              <a:rPr lang="en-GB" sz="2000" b="1" i="1" dirty="0"/>
              <a:t>Table 1. </a:t>
            </a:r>
            <a:r>
              <a:rPr lang="en-US" sz="2000" dirty="0"/>
              <a:t>Video stimulus description. Each segment represents a video clip that was designed by </a:t>
            </a:r>
            <a:r>
              <a:rPr lang="en-US" sz="2000" dirty="0" err="1"/>
              <a:t>Mavadati</a:t>
            </a:r>
            <a:r>
              <a:rPr lang="en-US" sz="2000" dirty="0"/>
              <a:t> and Mahoor [10] to elicit a target emotion. The authors showed the video clips to participants and measured their facial Action Units (AUs) as a response to the video clips, based on which they showed that the vide-clips elicited AUs related to the target to differing degrees (”%Target emotion occurred”).</a:t>
            </a:r>
            <a:endParaRPr lang="en-GB" sz="2000" dirty="0"/>
          </a:p>
        </p:txBody>
      </p:sp>
      <p:sp>
        <p:nvSpPr>
          <p:cNvPr id="30" name="TextBox 29">
            <a:extLst>
              <a:ext uri="{FF2B5EF4-FFF2-40B4-BE49-F238E27FC236}">
                <a16:creationId xmlns:a16="http://schemas.microsoft.com/office/drawing/2014/main" id="{0E795031-3245-AA24-C05A-46DFCF005D3D}"/>
              </a:ext>
            </a:extLst>
          </p:cNvPr>
          <p:cNvSpPr txBox="1"/>
          <p:nvPr/>
        </p:nvSpPr>
        <p:spPr>
          <a:xfrm flipH="1">
            <a:off x="19773106" y="4724816"/>
            <a:ext cx="9563534" cy="7359964"/>
          </a:xfrm>
          <a:prstGeom prst="rect">
            <a:avLst/>
          </a:prstGeom>
          <a:noFill/>
        </p:spPr>
        <p:txBody>
          <a:bodyPr wrap="square" rtlCol="0">
            <a:spAutoFit/>
          </a:bodyPr>
          <a:lstStyle/>
          <a:p>
            <a:pPr algn="just">
              <a:lnSpc>
                <a:spcPct val="115000"/>
              </a:lnSpc>
              <a:spcAft>
                <a:spcPts val="800"/>
              </a:spcAft>
            </a:pPr>
            <a:r>
              <a:rPr lang="en-AU" b="1" kern="100" dirty="0">
                <a:ea typeface="Aptos" panose="020B0004020202020204" pitchFamily="34" charset="0"/>
                <a:cs typeface="Times New Roman" panose="02020603050405020304" pitchFamily="18" charset="0"/>
              </a:rPr>
              <a:t>ANALYSIS</a:t>
            </a:r>
            <a:endParaRPr lang="en-AU" kern="100" dirty="0">
              <a:ea typeface="DengXian" panose="02010600030101010101" pitchFamily="2" charset="-122"/>
              <a:cs typeface="Times New Roman" panose="02020603050405020304" pitchFamily="18" charset="0"/>
            </a:endParaRPr>
          </a:p>
          <a:p>
            <a:pPr algn="just">
              <a:lnSpc>
                <a:spcPct val="115000"/>
              </a:lnSpc>
              <a:buNone/>
            </a:pPr>
            <a:r>
              <a:rPr lang="en-AU" kern="100" dirty="0">
                <a:ea typeface="Aptos" panose="020B0004020202020204" pitchFamily="34" charset="0"/>
                <a:cs typeface="Times New Roman" panose="02020603050405020304" pitchFamily="18" charset="0"/>
              </a:rPr>
              <a:t>Participant data were randomly allocated to either a hold-out dataset (HOD) or a test dataset with 5 CC and HCs in our HOD and 39 CC, 32 HC in our test dataset. </a:t>
            </a:r>
            <a:r>
              <a:rPr lang="en-US" kern="100" dirty="0">
                <a:solidFill>
                  <a:srgbClr val="000000"/>
                </a:solidFill>
                <a:ea typeface="Aptos" panose="020B0004020202020204" pitchFamily="34" charset="0"/>
                <a:cs typeface="Times New Roman" panose="02020603050405020304" pitchFamily="18" charset="0"/>
              </a:rPr>
              <a:t>We utilized a hidden Markov model (HMM) to identify underlying brain states driven by the stimuli via the OHBM HMM-MAR toolbox [11]. Parameters K (9) and </a:t>
            </a:r>
            <a:r>
              <a:rPr lang="en-US" kern="100" dirty="0" err="1">
                <a:solidFill>
                  <a:srgbClr val="000000"/>
                </a:solidFill>
                <a:ea typeface="Aptos" panose="020B0004020202020204" pitchFamily="34" charset="0"/>
                <a:cs typeface="Times New Roman" panose="02020603050405020304" pitchFamily="18" charset="0"/>
              </a:rPr>
              <a:t>Dirichilet</a:t>
            </a:r>
            <a:r>
              <a:rPr lang="en-US" kern="100" dirty="0">
                <a:solidFill>
                  <a:srgbClr val="000000"/>
                </a:solidFill>
                <a:ea typeface="Aptos" panose="020B0004020202020204" pitchFamily="34" charset="0"/>
                <a:cs typeface="Times New Roman" panose="02020603050405020304" pitchFamily="18" charset="0"/>
              </a:rPr>
              <a:t> </a:t>
            </a:r>
            <a:r>
              <a:rPr lang="en-US" kern="100" dirty="0" err="1">
                <a:solidFill>
                  <a:srgbClr val="000000"/>
                </a:solidFill>
                <a:ea typeface="Aptos" panose="020B0004020202020204" pitchFamily="34" charset="0"/>
                <a:cs typeface="Times New Roman" panose="02020603050405020304" pitchFamily="18" charset="0"/>
              </a:rPr>
              <a:t>Diag</a:t>
            </a:r>
            <a:r>
              <a:rPr lang="en-US" kern="100" dirty="0">
                <a:solidFill>
                  <a:srgbClr val="000000"/>
                </a:solidFill>
                <a:ea typeface="Aptos" panose="020B0004020202020204" pitchFamily="34" charset="0"/>
                <a:cs typeface="Times New Roman" panose="02020603050405020304" pitchFamily="18" charset="0"/>
              </a:rPr>
              <a:t> (10) for the HMM-MAR model were determined using cross-validation and free energy computation on a selection of candidate priors with our HOD.  We then quantified how much time is spent in each brain state (fractional occupancy [FO], see Figure 1).</a:t>
            </a:r>
          </a:p>
          <a:p>
            <a:pPr algn="just">
              <a:lnSpc>
                <a:spcPct val="115000"/>
              </a:lnSpc>
              <a:buNone/>
            </a:pPr>
            <a:r>
              <a:rPr lang="en-US" kern="100" dirty="0">
                <a:solidFill>
                  <a:srgbClr val="000000"/>
                </a:solidFill>
                <a:ea typeface="Aptos" panose="020B0004020202020204" pitchFamily="34" charset="0"/>
                <a:cs typeface="Times New Roman" panose="02020603050405020304" pitchFamily="18" charset="0"/>
              </a:rPr>
              <a:t>We performed t-tests on the FO of the 9 HMM states, and performed the Benjamini-Hochberg procedure for FDR correction (see Table 2).</a:t>
            </a:r>
          </a:p>
          <a:p>
            <a:pPr algn="just">
              <a:lnSpc>
                <a:spcPct val="115000"/>
              </a:lnSpc>
              <a:buNone/>
            </a:pPr>
            <a:r>
              <a:rPr lang="en-US" kern="100" dirty="0">
                <a:solidFill>
                  <a:srgbClr val="000000"/>
                </a:solidFill>
                <a:ea typeface="Aptos" panose="020B0004020202020204" pitchFamily="34" charset="0"/>
                <a:cs typeface="Times New Roman" panose="02020603050405020304" pitchFamily="18" charset="0"/>
              </a:rPr>
              <a:t>We then compared the FO of the states that exhibited differences CC and HC in each segment in order to determine which video clip (segment) of the video stimulus elicited the observed differences.</a:t>
            </a:r>
          </a:p>
          <a:p>
            <a:pPr algn="just">
              <a:lnSpc>
                <a:spcPct val="115000"/>
              </a:lnSpc>
              <a:buNone/>
            </a:pPr>
            <a:r>
              <a:rPr lang="en-US" kern="100" dirty="0">
                <a:solidFill>
                  <a:srgbClr val="000000"/>
                </a:solidFill>
                <a:ea typeface="Aptos" panose="020B0004020202020204" pitchFamily="34" charset="0"/>
                <a:cs typeface="Times New Roman" panose="02020603050405020304" pitchFamily="18" charset="0"/>
              </a:rPr>
              <a:t> </a:t>
            </a:r>
            <a:endParaRPr lang="en-AU" kern="100" dirty="0">
              <a:ea typeface="Aptos" panose="020B0004020202020204" pitchFamily="34" charset="0"/>
              <a:cs typeface="Times New Roman" panose="02020603050405020304" pitchFamily="18" charset="0"/>
            </a:endParaRPr>
          </a:p>
          <a:p>
            <a:endParaRPr lang="en-CH" dirty="0"/>
          </a:p>
        </p:txBody>
      </p:sp>
      <p:pic>
        <p:nvPicPr>
          <p:cNvPr id="44" name="Picture 43">
            <a:extLst>
              <a:ext uri="{FF2B5EF4-FFF2-40B4-BE49-F238E27FC236}">
                <a16:creationId xmlns:a16="http://schemas.microsoft.com/office/drawing/2014/main" id="{2E3DAA0A-A78E-E691-1849-C94A630CA117}"/>
              </a:ext>
            </a:extLst>
          </p:cNvPr>
          <p:cNvPicPr>
            <a:picLocks noChangeAspect="1"/>
          </p:cNvPicPr>
          <p:nvPr/>
        </p:nvPicPr>
        <p:blipFill>
          <a:blip r:embed="rId6"/>
          <a:srcRect l="9344" t="70511" r="9050" b="6260"/>
          <a:stretch>
            <a:fillRect/>
          </a:stretch>
        </p:blipFill>
        <p:spPr>
          <a:xfrm>
            <a:off x="15103876" y="16199002"/>
            <a:ext cx="14011344" cy="2408460"/>
          </a:xfrm>
          <a:prstGeom prst="rect">
            <a:avLst/>
          </a:prstGeom>
        </p:spPr>
      </p:pic>
      <p:sp>
        <p:nvSpPr>
          <p:cNvPr id="37" name="TextBox 36">
            <a:extLst>
              <a:ext uri="{FF2B5EF4-FFF2-40B4-BE49-F238E27FC236}">
                <a16:creationId xmlns:a16="http://schemas.microsoft.com/office/drawing/2014/main" id="{4503F86D-1A43-8301-6264-A05ABC0D7D78}"/>
              </a:ext>
            </a:extLst>
          </p:cNvPr>
          <p:cNvSpPr txBox="1"/>
          <p:nvPr/>
        </p:nvSpPr>
        <p:spPr>
          <a:xfrm flipH="1">
            <a:off x="15641662" y="15901653"/>
            <a:ext cx="13473558" cy="492120"/>
          </a:xfrm>
          <a:prstGeom prst="rect">
            <a:avLst/>
          </a:prstGeom>
          <a:solidFill>
            <a:schemeClr val="bg1"/>
          </a:solidFill>
        </p:spPr>
        <p:txBody>
          <a:bodyPr wrap="square" rtlCol="0">
            <a:spAutoFit/>
          </a:bodyPr>
          <a:lstStyle/>
          <a:p>
            <a:pPr algn="ctr">
              <a:lnSpc>
                <a:spcPct val="115000"/>
              </a:lnSpc>
              <a:spcAft>
                <a:spcPts val="800"/>
              </a:spcAft>
            </a:pPr>
            <a:r>
              <a:rPr lang="en-AU" b="1" kern="100" dirty="0">
                <a:ea typeface="Aptos" panose="020B0004020202020204" pitchFamily="34" charset="0"/>
                <a:cs typeface="Times New Roman" panose="02020603050405020304" pitchFamily="18" charset="0"/>
              </a:rPr>
              <a:t>FRACTIONAL OCCUPANCY HC</a:t>
            </a:r>
            <a:endParaRPr lang="en-AU" kern="100" dirty="0">
              <a:ea typeface="Aptos" panose="020B0004020202020204" pitchFamily="34" charset="0"/>
              <a:cs typeface="Times New Roman" panose="02020603050405020304" pitchFamily="18" charset="0"/>
            </a:endParaRPr>
          </a:p>
        </p:txBody>
      </p:sp>
      <p:pic>
        <p:nvPicPr>
          <p:cNvPr id="46" name="Picture 45">
            <a:extLst>
              <a:ext uri="{FF2B5EF4-FFF2-40B4-BE49-F238E27FC236}">
                <a16:creationId xmlns:a16="http://schemas.microsoft.com/office/drawing/2014/main" id="{FF73AD76-0DAD-F406-08BA-9CAB45C40FA8}"/>
              </a:ext>
            </a:extLst>
          </p:cNvPr>
          <p:cNvPicPr>
            <a:picLocks noChangeAspect="1"/>
          </p:cNvPicPr>
          <p:nvPr/>
        </p:nvPicPr>
        <p:blipFill>
          <a:blip r:embed="rId7"/>
          <a:srcRect l="9507" t="70217" r="8964" b="3276"/>
          <a:stretch>
            <a:fillRect/>
          </a:stretch>
        </p:blipFill>
        <p:spPr>
          <a:xfrm>
            <a:off x="15112958" y="20197233"/>
            <a:ext cx="14041640" cy="3013143"/>
          </a:xfrm>
          <a:prstGeom prst="rect">
            <a:avLst/>
          </a:prstGeom>
        </p:spPr>
      </p:pic>
      <p:sp>
        <p:nvSpPr>
          <p:cNvPr id="47" name="TextBox 46">
            <a:extLst>
              <a:ext uri="{FF2B5EF4-FFF2-40B4-BE49-F238E27FC236}">
                <a16:creationId xmlns:a16="http://schemas.microsoft.com/office/drawing/2014/main" id="{8A5F17B0-BF49-EB10-47CC-3C15A9DE30EC}"/>
              </a:ext>
            </a:extLst>
          </p:cNvPr>
          <p:cNvSpPr txBox="1"/>
          <p:nvPr/>
        </p:nvSpPr>
        <p:spPr>
          <a:xfrm flipH="1">
            <a:off x="15666322" y="20173878"/>
            <a:ext cx="13473558" cy="492120"/>
          </a:xfrm>
          <a:prstGeom prst="rect">
            <a:avLst/>
          </a:prstGeom>
          <a:solidFill>
            <a:schemeClr val="bg1"/>
          </a:solidFill>
        </p:spPr>
        <p:txBody>
          <a:bodyPr wrap="square" rtlCol="0">
            <a:spAutoFit/>
          </a:bodyPr>
          <a:lstStyle/>
          <a:p>
            <a:pPr algn="ctr">
              <a:lnSpc>
                <a:spcPct val="115000"/>
              </a:lnSpc>
              <a:spcAft>
                <a:spcPts val="800"/>
              </a:spcAft>
            </a:pPr>
            <a:r>
              <a:rPr lang="en-AU" b="1" kern="100" dirty="0">
                <a:ea typeface="Aptos" panose="020B0004020202020204" pitchFamily="34" charset="0"/>
                <a:cs typeface="Times New Roman" panose="02020603050405020304" pitchFamily="18" charset="0"/>
              </a:rPr>
              <a:t>FRACTIONAL OCCUPANCY CC</a:t>
            </a:r>
            <a:endParaRPr lang="en-AU" kern="100" dirty="0">
              <a:ea typeface="Aptos" panose="020B0004020202020204" pitchFamily="34" charset="0"/>
              <a:cs typeface="Times New Roman" panose="02020603050405020304" pitchFamily="18" charset="0"/>
            </a:endParaRPr>
          </a:p>
        </p:txBody>
      </p:sp>
      <p:sp>
        <p:nvSpPr>
          <p:cNvPr id="64" name="TextBox 63">
            <a:extLst>
              <a:ext uri="{FF2B5EF4-FFF2-40B4-BE49-F238E27FC236}">
                <a16:creationId xmlns:a16="http://schemas.microsoft.com/office/drawing/2014/main" id="{BDAECA5E-3F73-2E9B-A888-E5335E9896EF}"/>
              </a:ext>
            </a:extLst>
          </p:cNvPr>
          <p:cNvSpPr txBox="1"/>
          <p:nvPr/>
        </p:nvSpPr>
        <p:spPr>
          <a:xfrm>
            <a:off x="13717708" y="18557014"/>
            <a:ext cx="15397512" cy="627531"/>
          </a:xfrm>
          <a:prstGeom prst="rect">
            <a:avLst/>
          </a:prstGeom>
          <a:noFill/>
          <a:ln w="76200">
            <a:solidFill>
              <a:srgbClr val="07FFFB"/>
            </a:solidFill>
          </a:ln>
        </p:spPr>
        <p:txBody>
          <a:bodyPr wrap="square" rtlCol="0" anchor="ctr" anchorCtr="0">
            <a:noAutofit/>
          </a:bodyPr>
          <a:lstStyle/>
          <a:p>
            <a:r>
              <a:rPr lang="en-GB" sz="2000" dirty="0"/>
              <a:t>M</a:t>
            </a:r>
            <a:r>
              <a:rPr lang="en-CH" sz="2000" dirty="0"/>
              <a:t>ean FO state 4:       0.154.      </a:t>
            </a:r>
            <a:r>
              <a:rPr lang="en-CH" sz="2000" b="1" dirty="0"/>
              <a:t>0.150**    </a:t>
            </a:r>
            <a:r>
              <a:rPr lang="en-CH" sz="2000" dirty="0"/>
              <a:t>0.178     </a:t>
            </a:r>
            <a:r>
              <a:rPr lang="en-CH" sz="2000" b="1" dirty="0"/>
              <a:t>0.148*           0.172*                </a:t>
            </a:r>
            <a:r>
              <a:rPr lang="en-CH" sz="2000" dirty="0"/>
              <a:t>0.184            </a:t>
            </a:r>
            <a:r>
              <a:rPr lang="en-CH" sz="2000" b="1" dirty="0"/>
              <a:t>0.183**                 </a:t>
            </a:r>
            <a:r>
              <a:rPr lang="en-CH" sz="2000" dirty="0"/>
              <a:t>0.171 </a:t>
            </a:r>
            <a:r>
              <a:rPr lang="en-CH" sz="2000" b="1" dirty="0"/>
              <a:t>  </a:t>
            </a:r>
            <a:r>
              <a:rPr lang="en-CH" sz="2000" dirty="0"/>
              <a:t> </a:t>
            </a:r>
            <a:r>
              <a:rPr lang="en-CH" sz="2000" b="1" dirty="0"/>
              <a:t>           </a:t>
            </a:r>
            <a:r>
              <a:rPr lang="en-CH" sz="2000" dirty="0"/>
              <a:t>0.175 </a:t>
            </a:r>
            <a:r>
              <a:rPr lang="en-CH" sz="2000" b="1" dirty="0"/>
              <a:t>   </a:t>
            </a:r>
          </a:p>
        </p:txBody>
      </p:sp>
      <p:sp>
        <p:nvSpPr>
          <p:cNvPr id="65" name="TextBox 64">
            <a:extLst>
              <a:ext uri="{FF2B5EF4-FFF2-40B4-BE49-F238E27FC236}">
                <a16:creationId xmlns:a16="http://schemas.microsoft.com/office/drawing/2014/main" id="{D8935C76-B89D-5A00-5092-6287A57B7445}"/>
              </a:ext>
            </a:extLst>
          </p:cNvPr>
          <p:cNvSpPr txBox="1"/>
          <p:nvPr/>
        </p:nvSpPr>
        <p:spPr>
          <a:xfrm>
            <a:off x="13714079" y="19293874"/>
            <a:ext cx="15397512" cy="627531"/>
          </a:xfrm>
          <a:prstGeom prst="rect">
            <a:avLst/>
          </a:prstGeom>
          <a:noFill/>
          <a:ln w="76200">
            <a:solidFill>
              <a:srgbClr val="84FF7B"/>
            </a:solidFill>
          </a:ln>
        </p:spPr>
        <p:txBody>
          <a:bodyPr wrap="square" rtlCol="0" anchor="ctr" anchorCtr="0">
            <a:noAutofit/>
          </a:bodyPr>
          <a:lstStyle/>
          <a:p>
            <a:r>
              <a:rPr lang="en-GB" sz="2000" dirty="0"/>
              <a:t>M</a:t>
            </a:r>
            <a:r>
              <a:rPr lang="en-CH" sz="2000" dirty="0"/>
              <a:t>ean FO state 5:       </a:t>
            </a:r>
            <a:r>
              <a:rPr lang="en-CH" sz="2000" b="1" dirty="0"/>
              <a:t>0.120***   </a:t>
            </a:r>
            <a:r>
              <a:rPr lang="en-CH" sz="2000" dirty="0"/>
              <a:t>0.089.      0.102     0.093             0.084                0.079            </a:t>
            </a:r>
            <a:r>
              <a:rPr lang="en-CH" sz="2000" b="1" dirty="0"/>
              <a:t>0.089*                   </a:t>
            </a:r>
            <a:r>
              <a:rPr lang="en-CH" sz="2000" dirty="0"/>
              <a:t>0.088               0.082         </a:t>
            </a:r>
          </a:p>
        </p:txBody>
      </p:sp>
      <p:sp>
        <p:nvSpPr>
          <p:cNvPr id="68" name="TextBox 67">
            <a:extLst>
              <a:ext uri="{FF2B5EF4-FFF2-40B4-BE49-F238E27FC236}">
                <a16:creationId xmlns:a16="http://schemas.microsoft.com/office/drawing/2014/main" id="{7E14F091-6B1F-62AA-0A43-1EE55470EF4D}"/>
              </a:ext>
            </a:extLst>
          </p:cNvPr>
          <p:cNvSpPr txBox="1"/>
          <p:nvPr/>
        </p:nvSpPr>
        <p:spPr>
          <a:xfrm>
            <a:off x="13714079" y="23172741"/>
            <a:ext cx="15397512" cy="627531"/>
          </a:xfrm>
          <a:prstGeom prst="rect">
            <a:avLst/>
          </a:prstGeom>
          <a:noFill/>
          <a:ln w="76200">
            <a:solidFill>
              <a:srgbClr val="07FFFB"/>
            </a:solidFill>
          </a:ln>
        </p:spPr>
        <p:txBody>
          <a:bodyPr wrap="square" rtlCol="0" anchor="ctr" anchorCtr="0">
            <a:noAutofit/>
          </a:bodyPr>
          <a:lstStyle/>
          <a:p>
            <a:r>
              <a:rPr lang="en-GB" sz="2000" dirty="0"/>
              <a:t>M</a:t>
            </a:r>
            <a:r>
              <a:rPr lang="en-CH" sz="2000" dirty="0"/>
              <a:t>ean FO state 4:       0.156.      </a:t>
            </a:r>
            <a:r>
              <a:rPr lang="en-CH" sz="2000" b="1" dirty="0"/>
              <a:t>0.196**    </a:t>
            </a:r>
            <a:r>
              <a:rPr lang="en-CH" sz="2000" dirty="0"/>
              <a:t>0.182.   </a:t>
            </a:r>
            <a:r>
              <a:rPr lang="en-CH" sz="2000" b="1" dirty="0"/>
              <a:t>0.222*              0.195*               </a:t>
            </a:r>
            <a:r>
              <a:rPr lang="en-CH" sz="2000" dirty="0"/>
              <a:t>0.202           </a:t>
            </a:r>
            <a:r>
              <a:rPr lang="en-CH" sz="2000" b="1" dirty="0"/>
              <a:t> 0.213**                </a:t>
            </a:r>
            <a:r>
              <a:rPr lang="en-CH" sz="2000" dirty="0"/>
              <a:t>0.165</a:t>
            </a:r>
            <a:r>
              <a:rPr lang="en-CH" sz="2000" b="1" dirty="0"/>
              <a:t>               </a:t>
            </a:r>
            <a:r>
              <a:rPr lang="en-CH" sz="2000" dirty="0"/>
              <a:t>0.183 </a:t>
            </a:r>
            <a:endParaRPr lang="en-CH" sz="2000" b="1" dirty="0"/>
          </a:p>
        </p:txBody>
      </p:sp>
      <p:sp>
        <p:nvSpPr>
          <p:cNvPr id="69" name="TextBox 68">
            <a:extLst>
              <a:ext uri="{FF2B5EF4-FFF2-40B4-BE49-F238E27FC236}">
                <a16:creationId xmlns:a16="http://schemas.microsoft.com/office/drawing/2014/main" id="{CC799E0D-98BE-A37A-6819-5FCB00EF9919}"/>
              </a:ext>
            </a:extLst>
          </p:cNvPr>
          <p:cNvSpPr txBox="1"/>
          <p:nvPr/>
        </p:nvSpPr>
        <p:spPr>
          <a:xfrm>
            <a:off x="13710450" y="23909601"/>
            <a:ext cx="15397512" cy="627531"/>
          </a:xfrm>
          <a:prstGeom prst="rect">
            <a:avLst/>
          </a:prstGeom>
          <a:noFill/>
          <a:ln w="76200">
            <a:solidFill>
              <a:srgbClr val="84FF7B"/>
            </a:solidFill>
          </a:ln>
        </p:spPr>
        <p:txBody>
          <a:bodyPr wrap="square" rtlCol="0" anchor="ctr" anchorCtr="0">
            <a:noAutofit/>
          </a:bodyPr>
          <a:lstStyle/>
          <a:p>
            <a:r>
              <a:rPr lang="en-GB" sz="2000" dirty="0"/>
              <a:t>M</a:t>
            </a:r>
            <a:r>
              <a:rPr lang="en-CH" sz="2000" dirty="0"/>
              <a:t>ean FO state 5:       </a:t>
            </a:r>
            <a:r>
              <a:rPr lang="en-CH" sz="2000" b="1" dirty="0"/>
              <a:t>0.074***   </a:t>
            </a:r>
            <a:r>
              <a:rPr lang="en-CH" sz="2000" dirty="0"/>
              <a:t>0.790       0.089   0.075               0.091                 0.066             </a:t>
            </a:r>
            <a:r>
              <a:rPr lang="en-CH" sz="2000" b="1" dirty="0"/>
              <a:t>0.074*                 </a:t>
            </a:r>
            <a:r>
              <a:rPr lang="en-CH" sz="2000" dirty="0"/>
              <a:t>0.080               0.072</a:t>
            </a:r>
            <a:r>
              <a:rPr lang="en-CH" sz="2000" b="1" dirty="0"/>
              <a:t> </a:t>
            </a:r>
            <a:endParaRPr lang="en-CH" sz="2000" dirty="0"/>
          </a:p>
        </p:txBody>
      </p:sp>
      <p:sp>
        <p:nvSpPr>
          <p:cNvPr id="70" name="TextBox 69">
            <a:extLst>
              <a:ext uri="{FF2B5EF4-FFF2-40B4-BE49-F238E27FC236}">
                <a16:creationId xmlns:a16="http://schemas.microsoft.com/office/drawing/2014/main" id="{1FAD0A6B-5500-2CEA-E5F8-8F7B25143750}"/>
              </a:ext>
            </a:extLst>
          </p:cNvPr>
          <p:cNvSpPr txBox="1"/>
          <p:nvPr/>
        </p:nvSpPr>
        <p:spPr>
          <a:xfrm>
            <a:off x="576711" y="34941899"/>
            <a:ext cx="9088288" cy="7478970"/>
          </a:xfrm>
          <a:prstGeom prst="rect">
            <a:avLst/>
          </a:prstGeom>
          <a:noFill/>
        </p:spPr>
        <p:txBody>
          <a:bodyPr wrap="square" rtlCol="0">
            <a:spAutoFit/>
          </a:bodyPr>
          <a:lstStyle/>
          <a:p>
            <a:pPr algn="just"/>
            <a:r>
              <a:rPr lang="en-US" b="1" dirty="0"/>
              <a:t>RESULTS</a:t>
            </a:r>
          </a:p>
          <a:p>
            <a:pPr algn="just"/>
            <a:endParaRPr lang="en-US" dirty="0"/>
          </a:p>
          <a:p>
            <a:pPr algn="just"/>
            <a:r>
              <a:rPr lang="en-US" dirty="0"/>
              <a:t>We found that CC compared to HC occupied states 4 less and state 5 more compared to other states based on t tests, however these comparisons did not survive multiple comparisons correction. </a:t>
            </a:r>
          </a:p>
          <a:p>
            <a:pPr algn="just"/>
            <a:r>
              <a:rPr lang="en-US" dirty="0"/>
              <a:t>When relating the FO of state 4 and state 5 to the different video segments, we found that for state 4 these differences occurred predominantly in the video clips targeting the emotions happiness, fear, disgust, and sadness. For state 5 FO differences occurred mainly in video clips targeting happiness and sadness.</a:t>
            </a:r>
          </a:p>
          <a:p>
            <a:pPr algn="just"/>
            <a:r>
              <a:rPr lang="en-US" dirty="0"/>
              <a:t>We also visualized the brain states to show the relative activation of the 17 ROIs.</a:t>
            </a:r>
          </a:p>
          <a:p>
            <a:pPr algn="just"/>
            <a:endParaRPr lang="en-US" dirty="0"/>
          </a:p>
          <a:p>
            <a:r>
              <a:rPr lang="en-US" b="1" dirty="0"/>
              <a:t>CONCLUSION</a:t>
            </a:r>
          </a:p>
          <a:p>
            <a:endParaRPr lang="en-US" dirty="0"/>
          </a:p>
          <a:p>
            <a:pPr algn="just"/>
            <a:r>
              <a:rPr lang="en-US" dirty="0"/>
              <a:t>Studying differences in occupied brain states during an ecologically valid emotional stimulus offers novel insights into the disease. These findings will shed light on new targets for ongoing</a:t>
            </a:r>
            <a:endParaRPr lang="en-AU" dirty="0"/>
          </a:p>
          <a:p>
            <a:pPr algn="just"/>
            <a:endParaRPr lang="en-US" dirty="0"/>
          </a:p>
        </p:txBody>
      </p:sp>
      <p:pic>
        <p:nvPicPr>
          <p:cNvPr id="7" name="Picture 6" descr="A screenshot of a graph showing different colors&#10;&#10;AI-generated content may be incorrect.">
            <a:extLst>
              <a:ext uri="{FF2B5EF4-FFF2-40B4-BE49-F238E27FC236}">
                <a16:creationId xmlns:a16="http://schemas.microsoft.com/office/drawing/2014/main" id="{1B39AA4C-F003-89F0-885E-7F33E570F834}"/>
              </a:ext>
            </a:extLst>
          </p:cNvPr>
          <p:cNvPicPr>
            <a:picLocks noChangeAspect="1"/>
          </p:cNvPicPr>
          <p:nvPr/>
        </p:nvPicPr>
        <p:blipFill>
          <a:blip r:embed="rId8"/>
          <a:srcRect l="10304" t="6583" r="1559" b="8580"/>
          <a:stretch>
            <a:fillRect/>
          </a:stretch>
        </p:blipFill>
        <p:spPr>
          <a:xfrm>
            <a:off x="765903" y="21754190"/>
            <a:ext cx="12460675" cy="10608165"/>
          </a:xfrm>
          <a:prstGeom prst="rect">
            <a:avLst/>
          </a:prstGeom>
        </p:spPr>
      </p:pic>
      <p:sp>
        <p:nvSpPr>
          <p:cNvPr id="11" name="TextBox 10">
            <a:extLst>
              <a:ext uri="{FF2B5EF4-FFF2-40B4-BE49-F238E27FC236}">
                <a16:creationId xmlns:a16="http://schemas.microsoft.com/office/drawing/2014/main" id="{C74D4998-5EA4-7F87-FEBE-33637BE2999A}"/>
              </a:ext>
            </a:extLst>
          </p:cNvPr>
          <p:cNvSpPr txBox="1"/>
          <p:nvPr/>
        </p:nvSpPr>
        <p:spPr>
          <a:xfrm>
            <a:off x="941595" y="32417156"/>
            <a:ext cx="12460675" cy="1015663"/>
          </a:xfrm>
          <a:prstGeom prst="rect">
            <a:avLst/>
          </a:prstGeom>
          <a:noFill/>
        </p:spPr>
        <p:txBody>
          <a:bodyPr wrap="square" rtlCol="0">
            <a:spAutoFit/>
          </a:bodyPr>
          <a:lstStyle/>
          <a:p>
            <a:pPr algn="just"/>
            <a:r>
              <a:rPr lang="en-US" sz="2000" b="1" i="1" dirty="0"/>
              <a:t>Figure 2 </a:t>
            </a:r>
            <a:r>
              <a:rPr lang="en-US" sz="2000" i="1" dirty="0"/>
              <a:t>(above)</a:t>
            </a:r>
            <a:r>
              <a:rPr lang="en-US" sz="2000" b="1" i="1" dirty="0"/>
              <a:t>. </a:t>
            </a:r>
            <a:r>
              <a:rPr lang="en-US" altLang="en-US" sz="2000" dirty="0">
                <a:solidFill>
                  <a:srgbClr val="000000"/>
                </a:solidFill>
              </a:rPr>
              <a:t>Spatial maps of the 9 HMM states, numbered correspondingly. The </a:t>
            </a:r>
            <a:r>
              <a:rPr lang="en-US" altLang="en-US" sz="2000" dirty="0" err="1">
                <a:solidFill>
                  <a:srgbClr val="000000"/>
                </a:solidFill>
              </a:rPr>
              <a:t>colour</a:t>
            </a:r>
            <a:r>
              <a:rPr lang="en-US" altLang="en-US" sz="2000" dirty="0">
                <a:solidFill>
                  <a:srgbClr val="000000"/>
                </a:solidFill>
              </a:rPr>
              <a:t> gradient indicates standardized relative magnitude of activation for the 17 ROIs of the atlas by Yeo et al. [12], with a </a:t>
            </a:r>
            <a:r>
              <a:rPr lang="en-US" altLang="en-US" sz="2000" dirty="0" err="1">
                <a:solidFill>
                  <a:srgbClr val="000000"/>
                </a:solidFill>
              </a:rPr>
              <a:t>colour</a:t>
            </a:r>
            <a:r>
              <a:rPr lang="en-US" altLang="en-US" sz="2000" dirty="0">
                <a:solidFill>
                  <a:srgbClr val="000000"/>
                </a:solidFill>
              </a:rPr>
              <a:t> bar on the right for scale.</a:t>
            </a:r>
            <a:endParaRPr lang="en-US" sz="2000" dirty="0"/>
          </a:p>
        </p:txBody>
      </p:sp>
      <p:sp>
        <p:nvSpPr>
          <p:cNvPr id="12" name="TextBox 11">
            <a:extLst>
              <a:ext uri="{FF2B5EF4-FFF2-40B4-BE49-F238E27FC236}">
                <a16:creationId xmlns:a16="http://schemas.microsoft.com/office/drawing/2014/main" id="{B0ADF85D-F218-087B-E954-9BF50BE6DA48}"/>
              </a:ext>
            </a:extLst>
          </p:cNvPr>
          <p:cNvSpPr txBox="1"/>
          <p:nvPr/>
        </p:nvSpPr>
        <p:spPr>
          <a:xfrm>
            <a:off x="941595" y="33835114"/>
            <a:ext cx="12428334" cy="707886"/>
          </a:xfrm>
          <a:prstGeom prst="rect">
            <a:avLst/>
          </a:prstGeom>
          <a:noFill/>
        </p:spPr>
        <p:txBody>
          <a:bodyPr wrap="square" rtlCol="0">
            <a:spAutoFit/>
          </a:bodyPr>
          <a:lstStyle/>
          <a:p>
            <a:pPr algn="just"/>
            <a:r>
              <a:rPr lang="en-US" sz="2000" b="1" i="1" dirty="0"/>
              <a:t>Figure 3 </a:t>
            </a:r>
            <a:r>
              <a:rPr lang="en-US" sz="2000" i="1" dirty="0"/>
              <a:t>(right)</a:t>
            </a:r>
            <a:r>
              <a:rPr lang="en-US" sz="2000" b="1" i="1" dirty="0"/>
              <a:t>. </a:t>
            </a:r>
            <a:r>
              <a:rPr lang="en-US" sz="2000" dirty="0"/>
              <a:t>HMM states with the highest probability of occurring at each point in time for each participant (Trial) grouped into clinical (</a:t>
            </a:r>
            <a:r>
              <a:rPr lang="en-US" sz="2000" i="1" dirty="0"/>
              <a:t>Top</a:t>
            </a:r>
            <a:r>
              <a:rPr lang="en-US" sz="2000" dirty="0"/>
              <a:t>) and control (</a:t>
            </a:r>
            <a:r>
              <a:rPr lang="en-US" sz="2000" i="1" dirty="0"/>
              <a:t>Bottom</a:t>
            </a:r>
            <a:r>
              <a:rPr lang="en-US" sz="2000" dirty="0"/>
              <a:t>). </a:t>
            </a:r>
            <a:r>
              <a:rPr lang="en-US" sz="2000" dirty="0" err="1"/>
              <a:t>Colour</a:t>
            </a:r>
            <a:r>
              <a:rPr lang="en-US" sz="2000" dirty="0"/>
              <a:t> key to states can be found in Figure 2. </a:t>
            </a:r>
          </a:p>
        </p:txBody>
      </p:sp>
      <p:sp>
        <p:nvSpPr>
          <p:cNvPr id="15" name="TextBox 14">
            <a:extLst>
              <a:ext uri="{FF2B5EF4-FFF2-40B4-BE49-F238E27FC236}">
                <a16:creationId xmlns:a16="http://schemas.microsoft.com/office/drawing/2014/main" id="{D155CE87-3AF8-E20C-3D76-FCABB2FC7B89}"/>
              </a:ext>
            </a:extLst>
          </p:cNvPr>
          <p:cNvSpPr txBox="1"/>
          <p:nvPr/>
        </p:nvSpPr>
        <p:spPr>
          <a:xfrm>
            <a:off x="987347" y="13638228"/>
            <a:ext cx="13237620" cy="400110"/>
          </a:xfrm>
          <a:prstGeom prst="rect">
            <a:avLst/>
          </a:prstGeom>
          <a:noFill/>
        </p:spPr>
        <p:txBody>
          <a:bodyPr wrap="square" rtlCol="0">
            <a:spAutoFit/>
          </a:bodyPr>
          <a:lstStyle/>
          <a:p>
            <a:r>
              <a:rPr lang="en-US" sz="2000" b="1" i="1" dirty="0"/>
              <a:t>Figure 1. </a:t>
            </a:r>
            <a:r>
              <a:rPr lang="en-US" sz="2000" dirty="0" err="1"/>
              <a:t>Colour</a:t>
            </a:r>
            <a:r>
              <a:rPr lang="en-US" sz="2000" dirty="0"/>
              <a:t> key to HMM states, annotated by number.</a:t>
            </a:r>
          </a:p>
        </p:txBody>
      </p:sp>
    </p:spTree>
  </p:cSld>
  <p:clrMapOvr>
    <a:masterClrMapping/>
  </p:clrMapOvr>
</p:sld>
</file>

<file path=ppt/theme/theme1.xml><?xml version="1.0" encoding="utf-8"?>
<a:theme xmlns:a="http://schemas.openxmlformats.org/drawingml/2006/main" name="Leere Präsentation">
  <a:themeElements>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ere Prä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2400" b="0" i="0" u="none" strike="noStrike" cap="none" normalizeH="0" baseline="0">
            <a:ln>
              <a:noFill/>
            </a:ln>
            <a:solidFill>
              <a:schemeClr val="tx1"/>
            </a:solidFill>
            <a:effectLst/>
            <a:latin typeface="Arial" charset="0"/>
            <a:ea typeface="ＭＳ Ｐゴシック" pitchFamily="96" charset="-128"/>
            <a:cs typeface="ＭＳ Ｐゴシック" pitchFamily="96" charset="-128"/>
          </a:defRPr>
        </a:defPPr>
      </a:lstStyle>
    </a:lnDef>
  </a:objectDefaults>
  <a:extraClrSchemeLst>
    <a:extraClrScheme>
      <a:clrScheme name="Leere Prä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ere Prä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ere Prä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ere Prä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ere Prä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ere Prä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ere Prä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ere Prä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ere Prä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ere Prä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ere Prä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ere Prä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484</TotalTime>
  <Words>1826</Words>
  <Application>Microsoft Macintosh PowerPoint</Application>
  <PresentationFormat>Custom</PresentationFormat>
  <Paragraphs>165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DengXian</vt:lpstr>
      <vt:lpstr>Roboto Mono Web</vt:lpstr>
      <vt:lpstr>Aptos</vt:lpstr>
      <vt:lpstr>Arial</vt:lpstr>
      <vt:lpstr>Arial Black</vt:lpstr>
      <vt:lpstr>Calibri</vt:lpstr>
      <vt:lpstr>Leere Präsentation</vt:lpstr>
      <vt:lpstr>PowerPoint Presentation</vt:lpstr>
    </vt:vector>
  </TitlesOfParts>
  <Company>MPI für neurologische Forschung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MPIfnF MPG</dc:creator>
  <cp:lastModifiedBy>Judy Xiaotian Li</cp:lastModifiedBy>
  <cp:revision>47</cp:revision>
  <dcterms:created xsi:type="dcterms:W3CDTF">2008-04-03T07:31:16Z</dcterms:created>
  <dcterms:modified xsi:type="dcterms:W3CDTF">2025-11-10T09:59:05Z</dcterms:modified>
</cp:coreProperties>
</file>